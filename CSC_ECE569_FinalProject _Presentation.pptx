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78f0c7c72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78f0c7c72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78f0c7c72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78f0c7c72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78f0c7c72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78f0c7c72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subgraph corresponds to the colors that will be on the left and right faces, the other subgraph will correspond to the colors that will be on the front and back faces of the stack.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91286ab2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91286ab2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8ff25d66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8ff25d66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78f0c7c72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78f0c7c72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first image we are setting up for the first constraint of choosing one edge from each cube. The second image shows the last two constraints of two degrees per node and from a different cube.</a:t>
            </a:r>
            <a:endParaRPr/>
          </a:p>
          <a:p>
            <a:pPr indent="0" lvl="0" marL="0" rtl="0" algn="l">
              <a:spcBef>
                <a:spcPts val="0"/>
              </a:spcBef>
              <a:spcAft>
                <a:spcPts val="0"/>
              </a:spcAft>
              <a:buNone/>
            </a:pPr>
            <a:r>
              <a:rPr lang="en"/>
              <a:t>NOTE: we had to add another constraint not part of the original classical graph solution, where we set any self looping edges to weight of zero. We do this because for some reason it was considering these edges in the incorrect situations and we were using too many qubits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78f0c7c72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78f0c7c72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Through the binarycsp library we will be able to obtain our QUBO and neal will show us the energies for our best configurations to solve the problem.</a:t>
            </a:r>
            <a:endParaRPr/>
          </a:p>
          <a:p>
            <a:pPr indent="0" lvl="0" marL="0" rtl="0" algn="l">
              <a:spcBef>
                <a:spcPts val="0"/>
              </a:spcBef>
              <a:spcAft>
                <a:spcPts val="0"/>
              </a:spcAft>
              <a:buNone/>
            </a:pPr>
            <a:r>
              <a:rPr lang="en"/>
              <a:t>(Explain the images as well)</a:t>
            </a:r>
            <a:endParaRPr/>
          </a:p>
          <a:p>
            <a:pPr indent="0" lvl="0" marL="0" rtl="0" algn="l">
              <a:spcBef>
                <a:spcPts val="0"/>
              </a:spcBef>
              <a:spcAft>
                <a:spcPts val="0"/>
              </a:spcAft>
              <a:buNone/>
            </a:pPr>
            <a:r>
              <a:rPr lang="en"/>
              <a:t>Here we are making the graph with all the cubes edges combined in one graph, soon after this we add the constraint for the algorithm to choose one edge for the subgraph step.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78f0c7c72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78f0c7c72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binary quadratic model is made up of quadratic penalty functions which can be represented as the QUBO.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78f0c7c72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78f0c7c72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step we follow the regular QAOA process of feeding our SparsePauliOp to our self made QAOA function.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8ff25d6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8ff25d6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78f0c7c72_0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78f0c7c72_0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ff25d66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8ff25d66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ff25d66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ff25d66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8ff25d66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8ff25d66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8ff25d66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8ff25d66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ff25d66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8ff25d66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78f0c7c72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78f0c7c72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91286ab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91286ab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78f0c7c72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78f0c7c72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instantinsanity.z20.web.core.windows.net/"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instantinsanity.z20.web.core.windows.net/"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math.ksu.edu/outreach/skday/2023/slides/FourCubesSlides.pdf" TargetMode="External"/><Relationship Id="rId4" Type="http://schemas.openxmlformats.org/officeDocument/2006/relationships/hyperlink" Target="https://secquoia.github.io/QUBOBook/QUBO%20and%20Ising%20Model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Instant Insanity Puzzle: QAOA Approach</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Sisir Pynda &amp; Martin Carignan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Instant Insanity Puzzle?</a:t>
            </a:r>
            <a:endParaRPr/>
          </a:p>
        </p:txBody>
      </p:sp>
      <p:sp>
        <p:nvSpPr>
          <p:cNvPr id="61" name="Google Shape;61;p14"/>
          <p:cNvSpPr txBox="1"/>
          <p:nvPr>
            <p:ph idx="1" type="body"/>
          </p:nvPr>
        </p:nvSpPr>
        <p:spPr>
          <a:xfrm>
            <a:off x="311700" y="1152475"/>
            <a:ext cx="49311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Instant Insanity is a graphing problem puzzle.</a:t>
            </a:r>
            <a:endParaRPr/>
          </a:p>
          <a:p>
            <a:pPr indent="-342900" lvl="0" marL="457200" rtl="0" algn="l">
              <a:spcBef>
                <a:spcPts val="0"/>
              </a:spcBef>
              <a:spcAft>
                <a:spcPts val="0"/>
              </a:spcAft>
              <a:buSzPts val="1800"/>
              <a:buChar char="●"/>
            </a:pPr>
            <a:r>
              <a:rPr lang="en"/>
              <a:t>You are given four cubes that have different colors on each side, however, there are up to four unique colors in this entire puzzle.</a:t>
            </a:r>
            <a:endParaRPr/>
          </a:p>
          <a:p>
            <a:pPr indent="-342900" lvl="0" marL="457200" rtl="0" algn="l">
              <a:spcBef>
                <a:spcPts val="0"/>
              </a:spcBef>
              <a:spcAft>
                <a:spcPts val="0"/>
              </a:spcAft>
              <a:buSzPts val="1800"/>
              <a:buChar char="●"/>
            </a:pPr>
            <a:r>
              <a:rPr lang="en"/>
              <a:t>The </a:t>
            </a:r>
            <a:r>
              <a:rPr lang="en"/>
              <a:t>objective of this game is to stack the cubes in a way that each cube on the face of a stack does not have a repeating color.</a:t>
            </a:r>
            <a:endParaRPr/>
          </a:p>
          <a:p>
            <a:pPr indent="0" lvl="0" marL="0" rtl="0" algn="l">
              <a:spcBef>
                <a:spcPts val="1200"/>
              </a:spcBef>
              <a:spcAft>
                <a:spcPts val="0"/>
              </a:spcAft>
              <a:buNone/>
            </a:pPr>
            <a:r>
              <a:rPr lang="en" sz="1000"/>
              <a:t>3D Visualization: </a:t>
            </a:r>
            <a:r>
              <a:rPr lang="en" sz="1000" u="sng">
                <a:solidFill>
                  <a:schemeClr val="hlink"/>
                </a:solidFill>
                <a:hlinkClick r:id="rId3"/>
              </a:rPr>
              <a:t>https://instantinsanity.z20.web.core.windows.net/</a:t>
            </a:r>
            <a:endParaRPr sz="1000"/>
          </a:p>
          <a:p>
            <a:pPr indent="0" lvl="0" marL="0" rtl="0" algn="l">
              <a:spcBef>
                <a:spcPts val="1200"/>
              </a:spcBef>
              <a:spcAft>
                <a:spcPts val="1200"/>
              </a:spcAft>
              <a:buNone/>
            </a:pPr>
            <a:r>
              <a:t/>
            </a:r>
            <a:endParaRPr sz="1000"/>
          </a:p>
        </p:txBody>
      </p:sp>
      <p:pic>
        <p:nvPicPr>
          <p:cNvPr id="62" name="Google Shape;62;p14"/>
          <p:cNvPicPr preferRelativeResize="0"/>
          <p:nvPr/>
        </p:nvPicPr>
        <p:blipFill>
          <a:blip r:embed="rId4">
            <a:alphaModFix/>
          </a:blip>
          <a:stretch>
            <a:fillRect/>
          </a:stretch>
        </p:blipFill>
        <p:spPr>
          <a:xfrm>
            <a:off x="5324325" y="1847663"/>
            <a:ext cx="3596399" cy="20260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Graphing Approach</a:t>
            </a:r>
            <a:endParaRPr/>
          </a:p>
        </p:txBody>
      </p:sp>
      <p:sp>
        <p:nvSpPr>
          <p:cNvPr id="68" name="Google Shape;68;p15"/>
          <p:cNvSpPr txBox="1"/>
          <p:nvPr>
            <p:ph idx="1" type="body"/>
          </p:nvPr>
        </p:nvSpPr>
        <p:spPr>
          <a:xfrm>
            <a:off x="311700" y="1225650"/>
            <a:ext cx="4260300" cy="3563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Draw a graph for each cube, connecting opposite faces</a:t>
            </a:r>
            <a:endParaRPr sz="1400"/>
          </a:p>
          <a:p>
            <a:pPr indent="0" lvl="0" marL="0" rtl="0" algn="l">
              <a:spcBef>
                <a:spcPts val="1200"/>
              </a:spcBef>
              <a:spcAft>
                <a:spcPts val="1200"/>
              </a:spcAft>
              <a:buNone/>
            </a:pPr>
            <a:r>
              <a:t/>
            </a:r>
            <a:endParaRPr sz="1400"/>
          </a:p>
        </p:txBody>
      </p:sp>
      <p:pic>
        <p:nvPicPr>
          <p:cNvPr id="69" name="Google Shape;69;p15"/>
          <p:cNvPicPr preferRelativeResize="0"/>
          <p:nvPr/>
        </p:nvPicPr>
        <p:blipFill rotWithShape="1">
          <a:blip r:embed="rId3">
            <a:alphaModFix/>
          </a:blip>
          <a:srcRect b="0" l="0" r="60210" t="0"/>
          <a:stretch/>
        </p:blipFill>
        <p:spPr>
          <a:xfrm>
            <a:off x="4387775" y="912983"/>
            <a:ext cx="1316416" cy="1580387"/>
          </a:xfrm>
          <a:prstGeom prst="rect">
            <a:avLst/>
          </a:prstGeom>
          <a:noFill/>
          <a:ln>
            <a:noFill/>
          </a:ln>
        </p:spPr>
      </p:pic>
      <p:pic>
        <p:nvPicPr>
          <p:cNvPr id="70" name="Google Shape;70;p15"/>
          <p:cNvPicPr preferRelativeResize="0"/>
          <p:nvPr/>
        </p:nvPicPr>
        <p:blipFill>
          <a:blip r:embed="rId4">
            <a:alphaModFix/>
          </a:blip>
          <a:stretch>
            <a:fillRect/>
          </a:stretch>
        </p:blipFill>
        <p:spPr>
          <a:xfrm>
            <a:off x="5561857" y="916852"/>
            <a:ext cx="3128739" cy="1464514"/>
          </a:xfrm>
          <a:prstGeom prst="rect">
            <a:avLst/>
          </a:prstGeom>
          <a:noFill/>
          <a:ln>
            <a:noFill/>
          </a:ln>
        </p:spPr>
      </p:pic>
      <p:pic>
        <p:nvPicPr>
          <p:cNvPr id="71" name="Google Shape;71;p15"/>
          <p:cNvPicPr preferRelativeResize="0"/>
          <p:nvPr/>
        </p:nvPicPr>
        <p:blipFill>
          <a:blip r:embed="rId5">
            <a:alphaModFix/>
          </a:blip>
          <a:stretch>
            <a:fillRect/>
          </a:stretch>
        </p:blipFill>
        <p:spPr>
          <a:xfrm>
            <a:off x="4532867" y="2570438"/>
            <a:ext cx="4110266" cy="18511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Graphing Approach (cont.)</a:t>
            </a:r>
            <a:endParaRPr/>
          </a:p>
        </p:txBody>
      </p:sp>
      <p:sp>
        <p:nvSpPr>
          <p:cNvPr id="77" name="Google Shape;77;p16"/>
          <p:cNvSpPr txBox="1"/>
          <p:nvPr/>
        </p:nvSpPr>
        <p:spPr>
          <a:xfrm>
            <a:off x="311700" y="1224650"/>
            <a:ext cx="4449300" cy="30498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None/>
            </a:pPr>
            <a:r>
              <a:rPr lang="en" u="sng">
                <a:solidFill>
                  <a:schemeClr val="dk2"/>
                </a:solidFill>
              </a:rPr>
              <a:t>Steps</a:t>
            </a:r>
            <a:r>
              <a:rPr lang="en">
                <a:solidFill>
                  <a:schemeClr val="dk2"/>
                </a:solidFill>
              </a:rPr>
              <a:t>:</a:t>
            </a:r>
            <a:endParaRPr>
              <a:solidFill>
                <a:schemeClr val="dk2"/>
              </a:solidFill>
            </a:endParaRPr>
          </a:p>
          <a:p>
            <a:pPr indent="-317500" lvl="0" marL="457200" rtl="0" algn="l">
              <a:lnSpc>
                <a:spcPct val="115000"/>
              </a:lnSpc>
              <a:spcBef>
                <a:spcPts val="1200"/>
              </a:spcBef>
              <a:spcAft>
                <a:spcPts val="0"/>
              </a:spcAft>
              <a:buClr>
                <a:schemeClr val="dk2"/>
              </a:buClr>
              <a:buSzPts val="1400"/>
              <a:buChar char="●"/>
            </a:pPr>
            <a:r>
              <a:rPr lang="en">
                <a:solidFill>
                  <a:schemeClr val="dk2"/>
                </a:solidFill>
              </a:rPr>
              <a:t>Put all 4 graphs from Step 1 into a single graph</a:t>
            </a:r>
            <a:endParaRPr>
              <a:solidFill>
                <a:schemeClr val="dk2"/>
              </a:solidFill>
            </a:endParaRPr>
          </a:p>
          <a:p>
            <a:pPr indent="-317500" lvl="0" marL="457200" rtl="0" algn="l">
              <a:lnSpc>
                <a:spcPct val="115000"/>
              </a:lnSpc>
              <a:spcBef>
                <a:spcPts val="1000"/>
              </a:spcBef>
              <a:spcAft>
                <a:spcPts val="0"/>
              </a:spcAft>
              <a:buClr>
                <a:schemeClr val="dk2"/>
              </a:buClr>
              <a:buSzPts val="1400"/>
              <a:buChar char="●"/>
            </a:pPr>
            <a:r>
              <a:rPr lang="en">
                <a:solidFill>
                  <a:schemeClr val="dk2"/>
                </a:solidFill>
              </a:rPr>
              <a:t>Find 2 subgraphs using specific instructions:</a:t>
            </a:r>
            <a:endParaRPr>
              <a:solidFill>
                <a:schemeClr val="dk2"/>
              </a:solidFill>
            </a:endParaRPr>
          </a:p>
          <a:p>
            <a:pPr indent="-317500" lvl="1" marL="914400" rtl="0" algn="l">
              <a:lnSpc>
                <a:spcPct val="115000"/>
              </a:lnSpc>
              <a:spcBef>
                <a:spcPts val="1000"/>
              </a:spcBef>
              <a:spcAft>
                <a:spcPts val="0"/>
              </a:spcAft>
              <a:buClr>
                <a:schemeClr val="dk2"/>
              </a:buClr>
              <a:buSzPts val="1400"/>
              <a:buChar char="○"/>
            </a:pPr>
            <a:r>
              <a:rPr lang="en">
                <a:solidFill>
                  <a:schemeClr val="dk2"/>
                </a:solidFill>
              </a:rPr>
              <a:t>The 2 subgraphs have no edges in common</a:t>
            </a:r>
            <a:endParaRPr>
              <a:solidFill>
                <a:schemeClr val="dk2"/>
              </a:solidFill>
            </a:endParaRPr>
          </a:p>
          <a:p>
            <a:pPr indent="-317500" lvl="1" marL="914400" rtl="0" algn="l">
              <a:lnSpc>
                <a:spcPct val="115000"/>
              </a:lnSpc>
              <a:spcBef>
                <a:spcPts val="1000"/>
              </a:spcBef>
              <a:spcAft>
                <a:spcPts val="0"/>
              </a:spcAft>
              <a:buClr>
                <a:schemeClr val="dk2"/>
              </a:buClr>
              <a:buSzPts val="1400"/>
              <a:buChar char="○"/>
            </a:pPr>
            <a:r>
              <a:rPr lang="en">
                <a:solidFill>
                  <a:schemeClr val="dk2"/>
                </a:solidFill>
              </a:rPr>
              <a:t>Each subgraph contains exactly one edge from each cube</a:t>
            </a:r>
            <a:endParaRPr>
              <a:solidFill>
                <a:schemeClr val="dk2"/>
              </a:solidFill>
            </a:endParaRPr>
          </a:p>
          <a:p>
            <a:pPr indent="-317500" lvl="1" marL="914400" rtl="0" algn="l">
              <a:lnSpc>
                <a:spcPct val="115000"/>
              </a:lnSpc>
              <a:spcBef>
                <a:spcPts val="1000"/>
              </a:spcBef>
              <a:spcAft>
                <a:spcPts val="0"/>
              </a:spcAft>
              <a:buClr>
                <a:schemeClr val="dk2"/>
              </a:buClr>
              <a:buSzPts val="1400"/>
              <a:buChar char="○"/>
            </a:pPr>
            <a:r>
              <a:rPr lang="en">
                <a:solidFill>
                  <a:schemeClr val="dk2"/>
                </a:solidFill>
              </a:rPr>
              <a:t>Each node only has 2 edges connected to it</a:t>
            </a:r>
            <a:endParaRPr>
              <a:solidFill>
                <a:schemeClr val="dk2"/>
              </a:solidFill>
            </a:endParaRPr>
          </a:p>
        </p:txBody>
      </p:sp>
      <p:pic>
        <p:nvPicPr>
          <p:cNvPr id="78" name="Google Shape;78;p16"/>
          <p:cNvPicPr preferRelativeResize="0"/>
          <p:nvPr/>
        </p:nvPicPr>
        <p:blipFill>
          <a:blip r:embed="rId3">
            <a:alphaModFix/>
          </a:blip>
          <a:stretch>
            <a:fillRect/>
          </a:stretch>
        </p:blipFill>
        <p:spPr>
          <a:xfrm>
            <a:off x="5766600" y="445025"/>
            <a:ext cx="2127999" cy="2106625"/>
          </a:xfrm>
          <a:prstGeom prst="rect">
            <a:avLst/>
          </a:prstGeom>
          <a:noFill/>
          <a:ln>
            <a:noFill/>
          </a:ln>
        </p:spPr>
      </p:pic>
      <p:pic>
        <p:nvPicPr>
          <p:cNvPr id="79" name="Google Shape;79;p16"/>
          <p:cNvPicPr preferRelativeResize="0"/>
          <p:nvPr/>
        </p:nvPicPr>
        <p:blipFill>
          <a:blip r:embed="rId4">
            <a:alphaModFix/>
          </a:blip>
          <a:stretch>
            <a:fillRect/>
          </a:stretch>
        </p:blipFill>
        <p:spPr>
          <a:xfrm>
            <a:off x="5182262" y="2995800"/>
            <a:ext cx="1627750" cy="1838400"/>
          </a:xfrm>
          <a:prstGeom prst="rect">
            <a:avLst/>
          </a:prstGeom>
          <a:noFill/>
          <a:ln>
            <a:noFill/>
          </a:ln>
        </p:spPr>
      </p:pic>
      <p:pic>
        <p:nvPicPr>
          <p:cNvPr id="80" name="Google Shape;80;p16"/>
          <p:cNvPicPr preferRelativeResize="0"/>
          <p:nvPr/>
        </p:nvPicPr>
        <p:blipFill>
          <a:blip r:embed="rId5">
            <a:alphaModFix/>
          </a:blip>
          <a:stretch>
            <a:fillRect/>
          </a:stretch>
        </p:blipFill>
        <p:spPr>
          <a:xfrm>
            <a:off x="6923363" y="3045400"/>
            <a:ext cx="1555571" cy="1838400"/>
          </a:xfrm>
          <a:prstGeom prst="rect">
            <a:avLst/>
          </a:prstGeom>
          <a:noFill/>
          <a:ln>
            <a:noFill/>
          </a:ln>
        </p:spPr>
      </p:pic>
      <p:sp>
        <p:nvSpPr>
          <p:cNvPr id="81" name="Google Shape;81;p16"/>
          <p:cNvSpPr txBox="1"/>
          <p:nvPr/>
        </p:nvSpPr>
        <p:spPr>
          <a:xfrm>
            <a:off x="5287688" y="2783250"/>
            <a:ext cx="1416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Front-Back</a:t>
            </a:r>
            <a:endParaRPr>
              <a:solidFill>
                <a:schemeClr val="dk2"/>
              </a:solidFill>
            </a:endParaRPr>
          </a:p>
        </p:txBody>
      </p:sp>
      <p:sp>
        <p:nvSpPr>
          <p:cNvPr id="82" name="Google Shape;82;p16"/>
          <p:cNvSpPr txBox="1"/>
          <p:nvPr/>
        </p:nvSpPr>
        <p:spPr>
          <a:xfrm>
            <a:off x="6992700" y="2783250"/>
            <a:ext cx="1416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Left-Right</a:t>
            </a:r>
            <a:endParaRPr>
              <a:solidFill>
                <a:schemeClr val="dk2"/>
              </a:solidFill>
            </a:endParaRPr>
          </a:p>
        </p:txBody>
      </p:sp>
      <p:cxnSp>
        <p:nvCxnSpPr>
          <p:cNvPr id="83" name="Google Shape;83;p16"/>
          <p:cNvCxnSpPr/>
          <p:nvPr/>
        </p:nvCxnSpPr>
        <p:spPr>
          <a:xfrm>
            <a:off x="5023050" y="2663850"/>
            <a:ext cx="3627300" cy="7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t>Problem</a:t>
            </a:r>
            <a:r>
              <a:rPr lang="en"/>
              <a:t> Cube</a:t>
            </a:r>
            <a:endParaRPr/>
          </a:p>
        </p:txBody>
      </p:sp>
      <p:sp>
        <p:nvSpPr>
          <p:cNvPr id="89" name="Google Shape;89;p17"/>
          <p:cNvSpPr txBox="1"/>
          <p:nvPr>
            <p:ph idx="1" type="body"/>
          </p:nvPr>
        </p:nvSpPr>
        <p:spPr>
          <a:xfrm>
            <a:off x="3319050" y="4117625"/>
            <a:ext cx="2505900" cy="500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u="sng">
                <a:solidFill>
                  <a:schemeClr val="hlink"/>
                </a:solidFill>
                <a:hlinkClick r:id="rId3"/>
              </a:rPr>
              <a:t>Interactive Visualization</a:t>
            </a:r>
            <a:endParaRPr/>
          </a:p>
        </p:txBody>
      </p:sp>
      <p:pic>
        <p:nvPicPr>
          <p:cNvPr id="90" name="Google Shape;90;p17"/>
          <p:cNvPicPr preferRelativeResize="0"/>
          <p:nvPr/>
        </p:nvPicPr>
        <p:blipFill>
          <a:blip r:embed="rId4">
            <a:alphaModFix/>
          </a:blip>
          <a:stretch>
            <a:fillRect/>
          </a:stretch>
        </p:blipFill>
        <p:spPr>
          <a:xfrm>
            <a:off x="489450" y="1170125"/>
            <a:ext cx="8165091" cy="274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the Problem</a:t>
            </a:r>
            <a:endParaRPr/>
          </a:p>
        </p:txBody>
      </p:sp>
      <p:pic>
        <p:nvPicPr>
          <p:cNvPr id="96" name="Google Shape;96;p18"/>
          <p:cNvPicPr preferRelativeResize="0"/>
          <p:nvPr/>
        </p:nvPicPr>
        <p:blipFill>
          <a:blip r:embed="rId3">
            <a:alphaModFix/>
          </a:blip>
          <a:stretch>
            <a:fillRect/>
          </a:stretch>
        </p:blipFill>
        <p:spPr>
          <a:xfrm>
            <a:off x="674188" y="3888863"/>
            <a:ext cx="6723476" cy="886400"/>
          </a:xfrm>
          <a:prstGeom prst="rect">
            <a:avLst/>
          </a:prstGeom>
          <a:noFill/>
          <a:ln>
            <a:noFill/>
          </a:ln>
        </p:spPr>
      </p:pic>
      <p:pic>
        <p:nvPicPr>
          <p:cNvPr id="97" name="Google Shape;97;p18"/>
          <p:cNvPicPr preferRelativeResize="0"/>
          <p:nvPr/>
        </p:nvPicPr>
        <p:blipFill>
          <a:blip r:embed="rId4">
            <a:alphaModFix/>
          </a:blip>
          <a:stretch>
            <a:fillRect/>
          </a:stretch>
        </p:blipFill>
        <p:spPr>
          <a:xfrm>
            <a:off x="4536874" y="163975"/>
            <a:ext cx="3295602" cy="3002573"/>
          </a:xfrm>
          <a:prstGeom prst="rect">
            <a:avLst/>
          </a:prstGeom>
          <a:noFill/>
          <a:ln>
            <a:noFill/>
          </a:ln>
        </p:spPr>
      </p:pic>
      <p:sp>
        <p:nvSpPr>
          <p:cNvPr id="98" name="Google Shape;98;p18"/>
          <p:cNvSpPr txBox="1"/>
          <p:nvPr/>
        </p:nvSpPr>
        <p:spPr>
          <a:xfrm>
            <a:off x="337275" y="1103175"/>
            <a:ext cx="3689100" cy="23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This Problem was solved using graph theory.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Nodes: Colours white, green, reg,blue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Edges: Cube 1,2,3,4</a:t>
            </a:r>
            <a:endParaRPr sz="1800">
              <a:solidFill>
                <a:schemeClr val="dk2"/>
              </a:solidFill>
            </a:endParaRPr>
          </a:p>
        </p:txBody>
      </p:sp>
      <p:sp>
        <p:nvSpPr>
          <p:cNvPr id="99" name="Google Shape;99;p18"/>
          <p:cNvSpPr txBox="1"/>
          <p:nvPr/>
        </p:nvSpPr>
        <p:spPr>
          <a:xfrm>
            <a:off x="5292325" y="3260350"/>
            <a:ext cx="17847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4 cube system</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Classical Approach</a:t>
            </a:r>
            <a:endParaRPr/>
          </a:p>
        </p:txBody>
      </p:sp>
      <p:sp>
        <p:nvSpPr>
          <p:cNvPr id="105" name="Google Shape;105;p19"/>
          <p:cNvSpPr txBox="1"/>
          <p:nvPr>
            <p:ph idx="1" type="body"/>
          </p:nvPr>
        </p:nvSpPr>
        <p:spPr>
          <a:xfrm>
            <a:off x="30625" y="1173550"/>
            <a:ext cx="4838700" cy="36396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To solve the problem we needed to extract two subgraphs from the main graph </a:t>
            </a:r>
            <a:r>
              <a:rPr lang="en" sz="1100"/>
              <a:t>(</a:t>
            </a:r>
            <a:r>
              <a:rPr lang="en" sz="1100"/>
              <a:t>These subgraphs represent the Front-back and Left-Right side relationships of the solution </a:t>
            </a:r>
            <a:r>
              <a:rPr lang="en" sz="1100"/>
              <a:t>)</a:t>
            </a:r>
            <a:endParaRPr sz="1100"/>
          </a:p>
          <a:p>
            <a:pPr indent="-304800" lvl="0" marL="457200" rtl="0" algn="l">
              <a:spcBef>
                <a:spcPts val="1000"/>
              </a:spcBef>
              <a:spcAft>
                <a:spcPts val="0"/>
              </a:spcAft>
              <a:buSzPts val="1200"/>
              <a:buChar char="●"/>
            </a:pPr>
            <a:r>
              <a:rPr lang="en" sz="1200"/>
              <a:t> Embedded Rules :</a:t>
            </a:r>
            <a:endParaRPr sz="1200"/>
          </a:p>
          <a:p>
            <a:pPr indent="457200" lvl="0" marL="457200" rtl="0" algn="l">
              <a:spcBef>
                <a:spcPts val="1000"/>
              </a:spcBef>
              <a:spcAft>
                <a:spcPts val="0"/>
              </a:spcAft>
              <a:buNone/>
            </a:pPr>
            <a:r>
              <a:rPr lang="en" sz="1200"/>
              <a:t>Rule 1: </a:t>
            </a:r>
            <a:r>
              <a:rPr lang="en" sz="1200"/>
              <a:t>Degree</a:t>
            </a:r>
            <a:r>
              <a:rPr lang="en" sz="1200"/>
              <a:t> of each node is 2 (one for each side)</a:t>
            </a:r>
            <a:endParaRPr sz="1200"/>
          </a:p>
          <a:p>
            <a:pPr indent="0" lvl="0" marL="0" rtl="0" algn="l">
              <a:spcBef>
                <a:spcPts val="1000"/>
              </a:spcBef>
              <a:spcAft>
                <a:spcPts val="0"/>
              </a:spcAft>
              <a:buNone/>
            </a:pPr>
            <a:r>
              <a:rPr lang="en" sz="1200"/>
              <a:t>		Rule 2: All 4 cubes have an edge in each subgraph</a:t>
            </a:r>
            <a:endParaRPr sz="1200"/>
          </a:p>
          <a:p>
            <a:pPr indent="-304800" lvl="0" marL="457200" rtl="0" algn="l">
              <a:spcBef>
                <a:spcPts val="1000"/>
              </a:spcBef>
              <a:spcAft>
                <a:spcPts val="0"/>
              </a:spcAft>
              <a:buSzPts val="1200"/>
              <a:buChar char="●"/>
            </a:pPr>
            <a:r>
              <a:rPr lang="en" sz="1200"/>
              <a:t>Our planned approach is to use QAOA to find the correct cube combinations that solve the puzzle.</a:t>
            </a:r>
            <a:endParaRPr sz="1200"/>
          </a:p>
          <a:p>
            <a:pPr indent="0" lvl="0" marL="457200" rtl="0" algn="l">
              <a:lnSpc>
                <a:spcPct val="95000"/>
              </a:lnSpc>
              <a:spcBef>
                <a:spcPts val="1000"/>
              </a:spcBef>
              <a:spcAft>
                <a:spcPts val="1000"/>
              </a:spcAft>
              <a:buNone/>
            </a:pPr>
            <a:r>
              <a:t/>
            </a:r>
            <a:endParaRPr sz="1200"/>
          </a:p>
        </p:txBody>
      </p:sp>
      <p:pic>
        <p:nvPicPr>
          <p:cNvPr id="106" name="Google Shape;106;p19"/>
          <p:cNvPicPr preferRelativeResize="0"/>
          <p:nvPr/>
        </p:nvPicPr>
        <p:blipFill>
          <a:blip r:embed="rId3">
            <a:alphaModFix/>
          </a:blip>
          <a:stretch>
            <a:fillRect/>
          </a:stretch>
        </p:blipFill>
        <p:spPr>
          <a:xfrm>
            <a:off x="691125" y="3822525"/>
            <a:ext cx="7891000" cy="955600"/>
          </a:xfrm>
          <a:prstGeom prst="rect">
            <a:avLst/>
          </a:prstGeom>
          <a:noFill/>
          <a:ln>
            <a:noFill/>
          </a:ln>
        </p:spPr>
      </p:pic>
      <p:pic>
        <p:nvPicPr>
          <p:cNvPr id="107" name="Google Shape;107;p19"/>
          <p:cNvPicPr preferRelativeResize="0"/>
          <p:nvPr/>
        </p:nvPicPr>
        <p:blipFill>
          <a:blip r:embed="rId4">
            <a:alphaModFix/>
          </a:blip>
          <a:stretch>
            <a:fillRect/>
          </a:stretch>
        </p:blipFill>
        <p:spPr>
          <a:xfrm>
            <a:off x="4606463" y="2798338"/>
            <a:ext cx="4537526" cy="88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Classical Approach (cont.)</a:t>
            </a:r>
            <a:endParaRPr/>
          </a:p>
        </p:txBody>
      </p:sp>
      <p:sp>
        <p:nvSpPr>
          <p:cNvPr id="113" name="Google Shape;11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D-Wave has the dwavebinarycsp library we can use to input our constraints problem in a classical form to translate into a QUBO</a:t>
            </a:r>
            <a:r>
              <a:rPr lang="en" sz="1400"/>
              <a:t>.</a:t>
            </a:r>
            <a:endParaRPr sz="1400"/>
          </a:p>
          <a:p>
            <a:pPr indent="-317500" lvl="0" marL="457200" rtl="0" algn="l">
              <a:spcBef>
                <a:spcPts val="1000"/>
              </a:spcBef>
              <a:spcAft>
                <a:spcPts val="0"/>
              </a:spcAft>
              <a:buSzPts val="1400"/>
              <a:buChar char="●"/>
            </a:pPr>
            <a:r>
              <a:rPr lang="en" sz="1400"/>
              <a:t>We turn the problem into a binary quadratic model, which was created by applying the constraints we fed the binary csp.</a:t>
            </a:r>
            <a:endParaRPr/>
          </a:p>
          <a:p>
            <a:pPr indent="-317500" lvl="0" marL="457200" rtl="0" algn="l">
              <a:spcBef>
                <a:spcPts val="1000"/>
              </a:spcBef>
              <a:spcAft>
                <a:spcPts val="1000"/>
              </a:spcAft>
              <a:buSzPts val="1400"/>
              <a:buChar char="●"/>
            </a:pPr>
            <a:r>
              <a:t/>
            </a:r>
            <a:endParaRPr sz="1400"/>
          </a:p>
        </p:txBody>
      </p:sp>
      <p:pic>
        <p:nvPicPr>
          <p:cNvPr id="114" name="Google Shape;114;p20"/>
          <p:cNvPicPr preferRelativeResize="0"/>
          <p:nvPr/>
        </p:nvPicPr>
        <p:blipFill>
          <a:blip r:embed="rId3">
            <a:alphaModFix/>
          </a:blip>
          <a:stretch>
            <a:fillRect/>
          </a:stretch>
        </p:blipFill>
        <p:spPr>
          <a:xfrm>
            <a:off x="311700" y="2401163"/>
            <a:ext cx="2517276" cy="1977870"/>
          </a:xfrm>
          <a:prstGeom prst="rect">
            <a:avLst/>
          </a:prstGeom>
          <a:noFill/>
          <a:ln>
            <a:noFill/>
          </a:ln>
        </p:spPr>
      </p:pic>
      <p:pic>
        <p:nvPicPr>
          <p:cNvPr id="115" name="Google Shape;115;p20"/>
          <p:cNvPicPr preferRelativeResize="0"/>
          <p:nvPr/>
        </p:nvPicPr>
        <p:blipFill>
          <a:blip r:embed="rId4">
            <a:alphaModFix/>
          </a:blip>
          <a:stretch>
            <a:fillRect/>
          </a:stretch>
        </p:blipFill>
        <p:spPr>
          <a:xfrm>
            <a:off x="2991137" y="2614250"/>
            <a:ext cx="2893675" cy="2110951"/>
          </a:xfrm>
          <a:prstGeom prst="rect">
            <a:avLst/>
          </a:prstGeom>
          <a:noFill/>
          <a:ln>
            <a:noFill/>
          </a:ln>
        </p:spPr>
      </p:pic>
      <p:pic>
        <p:nvPicPr>
          <p:cNvPr id="116" name="Google Shape;116;p20"/>
          <p:cNvPicPr preferRelativeResize="0"/>
          <p:nvPr/>
        </p:nvPicPr>
        <p:blipFill>
          <a:blip r:embed="rId5">
            <a:alphaModFix/>
          </a:blip>
          <a:stretch>
            <a:fillRect/>
          </a:stretch>
        </p:blipFill>
        <p:spPr>
          <a:xfrm>
            <a:off x="6046975" y="2783825"/>
            <a:ext cx="2823945" cy="2110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D-Wave Results</a:t>
            </a:r>
            <a:endParaRPr/>
          </a:p>
        </p:txBody>
      </p:sp>
      <p:sp>
        <p:nvSpPr>
          <p:cNvPr id="122" name="Google Shape;122;p21"/>
          <p:cNvSpPr txBox="1"/>
          <p:nvPr>
            <p:ph idx="1" type="body"/>
          </p:nvPr>
        </p:nvSpPr>
        <p:spPr>
          <a:xfrm>
            <a:off x="467225" y="953413"/>
            <a:ext cx="5072700" cy="14829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After using simulated annealing we see the number of solutions possible</a:t>
            </a:r>
            <a:r>
              <a:rPr lang="en" sz="1400"/>
              <a:t>.</a:t>
            </a:r>
            <a:endParaRPr sz="1400"/>
          </a:p>
        </p:txBody>
      </p:sp>
      <p:pic>
        <p:nvPicPr>
          <p:cNvPr id="123" name="Google Shape;123;p21"/>
          <p:cNvPicPr preferRelativeResize="0"/>
          <p:nvPr/>
        </p:nvPicPr>
        <p:blipFill>
          <a:blip r:embed="rId3">
            <a:alphaModFix/>
          </a:blip>
          <a:stretch>
            <a:fillRect/>
          </a:stretch>
        </p:blipFill>
        <p:spPr>
          <a:xfrm>
            <a:off x="5942725" y="158225"/>
            <a:ext cx="2930724" cy="2413525"/>
          </a:xfrm>
          <a:prstGeom prst="rect">
            <a:avLst/>
          </a:prstGeom>
          <a:noFill/>
          <a:ln>
            <a:noFill/>
          </a:ln>
        </p:spPr>
      </p:pic>
      <p:pic>
        <p:nvPicPr>
          <p:cNvPr id="124" name="Google Shape;124;p21"/>
          <p:cNvPicPr preferRelativeResize="0"/>
          <p:nvPr/>
        </p:nvPicPr>
        <p:blipFill>
          <a:blip r:embed="rId4">
            <a:alphaModFix/>
          </a:blip>
          <a:stretch>
            <a:fillRect/>
          </a:stretch>
        </p:blipFill>
        <p:spPr>
          <a:xfrm>
            <a:off x="48875" y="2494600"/>
            <a:ext cx="7346302" cy="276175"/>
          </a:xfrm>
          <a:prstGeom prst="rect">
            <a:avLst/>
          </a:prstGeom>
          <a:noFill/>
          <a:ln>
            <a:noFill/>
          </a:ln>
        </p:spPr>
      </p:pic>
      <p:pic>
        <p:nvPicPr>
          <p:cNvPr id="125" name="Google Shape;125;p21"/>
          <p:cNvPicPr preferRelativeResize="0"/>
          <p:nvPr/>
        </p:nvPicPr>
        <p:blipFill>
          <a:blip r:embed="rId5">
            <a:alphaModFix/>
          </a:blip>
          <a:stretch>
            <a:fillRect/>
          </a:stretch>
        </p:blipFill>
        <p:spPr>
          <a:xfrm>
            <a:off x="348787" y="1659637"/>
            <a:ext cx="5309573" cy="572700"/>
          </a:xfrm>
          <a:prstGeom prst="rect">
            <a:avLst/>
          </a:prstGeom>
          <a:noFill/>
          <a:ln>
            <a:noFill/>
          </a:ln>
        </p:spPr>
      </p:pic>
      <p:pic>
        <p:nvPicPr>
          <p:cNvPr id="126" name="Google Shape;126;p21"/>
          <p:cNvPicPr preferRelativeResize="0"/>
          <p:nvPr/>
        </p:nvPicPr>
        <p:blipFill>
          <a:blip r:embed="rId6">
            <a:alphaModFix/>
          </a:blip>
          <a:stretch>
            <a:fillRect/>
          </a:stretch>
        </p:blipFill>
        <p:spPr>
          <a:xfrm rot="-5400000">
            <a:off x="1571439" y="1954962"/>
            <a:ext cx="2267624" cy="4033302"/>
          </a:xfrm>
          <a:prstGeom prst="rect">
            <a:avLst/>
          </a:prstGeom>
          <a:noFill/>
          <a:ln>
            <a:noFill/>
          </a:ln>
        </p:spPr>
      </p:pic>
      <p:cxnSp>
        <p:nvCxnSpPr>
          <p:cNvPr id="127" name="Google Shape;127;p21"/>
          <p:cNvCxnSpPr/>
          <p:nvPr/>
        </p:nvCxnSpPr>
        <p:spPr>
          <a:xfrm>
            <a:off x="871300" y="2740400"/>
            <a:ext cx="829200" cy="484800"/>
          </a:xfrm>
          <a:prstGeom prst="straightConnector1">
            <a:avLst/>
          </a:prstGeom>
          <a:noFill/>
          <a:ln cap="flat" cmpd="sng" w="38100">
            <a:solidFill>
              <a:srgbClr val="FF0000"/>
            </a:solidFill>
            <a:prstDash val="solid"/>
            <a:round/>
            <a:headEnd len="med" w="med" type="none"/>
            <a:tailEnd len="med" w="med" type="triangle"/>
          </a:ln>
        </p:spPr>
      </p:cxnSp>
      <p:cxnSp>
        <p:nvCxnSpPr>
          <p:cNvPr id="128" name="Google Shape;128;p21"/>
          <p:cNvCxnSpPr/>
          <p:nvPr/>
        </p:nvCxnSpPr>
        <p:spPr>
          <a:xfrm flipH="1">
            <a:off x="2557675" y="2829050"/>
            <a:ext cx="834000" cy="1358700"/>
          </a:xfrm>
          <a:prstGeom prst="straightConnector1">
            <a:avLst/>
          </a:prstGeom>
          <a:noFill/>
          <a:ln cap="flat" cmpd="sng" w="38100">
            <a:solidFill>
              <a:srgbClr val="FF0000"/>
            </a:solidFill>
            <a:prstDash val="solid"/>
            <a:round/>
            <a:headEnd len="med" w="med" type="none"/>
            <a:tailEnd len="med" w="med" type="triangle"/>
          </a:ln>
        </p:spPr>
      </p:cxnSp>
      <p:cxnSp>
        <p:nvCxnSpPr>
          <p:cNvPr id="129" name="Google Shape;129;p21"/>
          <p:cNvCxnSpPr/>
          <p:nvPr/>
        </p:nvCxnSpPr>
        <p:spPr>
          <a:xfrm flipH="1">
            <a:off x="4199725" y="2693375"/>
            <a:ext cx="834000" cy="1358700"/>
          </a:xfrm>
          <a:prstGeom prst="straightConnector1">
            <a:avLst/>
          </a:prstGeom>
          <a:noFill/>
          <a:ln cap="flat" cmpd="sng" w="38100">
            <a:solidFill>
              <a:srgbClr val="FF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Formulation - Extracted QUBO equation</a:t>
            </a:r>
            <a:endParaRPr/>
          </a:p>
        </p:txBody>
      </p:sp>
      <p:sp>
        <p:nvSpPr>
          <p:cNvPr id="135" name="Google Shape;135;p22"/>
          <p:cNvSpPr txBox="1"/>
          <p:nvPr>
            <p:ph idx="1" type="body"/>
          </p:nvPr>
        </p:nvSpPr>
        <p:spPr>
          <a:xfrm>
            <a:off x="311700" y="1152475"/>
            <a:ext cx="8520600" cy="3544800"/>
          </a:xfrm>
          <a:prstGeom prst="rect">
            <a:avLst/>
          </a:prstGeom>
        </p:spPr>
        <p:txBody>
          <a:bodyPr anchorCtr="0" anchor="t" bIns="91425" lIns="91425" spcFirstLastPara="1" rIns="91425" wrap="square" tIns="91425">
            <a:normAutofit fontScale="85000" lnSpcReduction="20000"/>
          </a:bodyPr>
          <a:lstStyle/>
          <a:p>
            <a:pPr indent="-326369" lvl="0" marL="457200" rtl="0" algn="l">
              <a:spcBef>
                <a:spcPts val="0"/>
              </a:spcBef>
              <a:spcAft>
                <a:spcPts val="0"/>
              </a:spcAft>
              <a:buSzPct val="100000"/>
              <a:buChar char="●"/>
            </a:pPr>
            <a:r>
              <a:rPr lang="en" sz="1811"/>
              <a:t>We get the QUBO from bqm:</a:t>
            </a:r>
            <a:endParaRPr sz="1811"/>
          </a:p>
          <a:p>
            <a:pPr indent="-304165" lvl="1" marL="914400" rtl="0" algn="l">
              <a:spcBef>
                <a:spcPts val="1000"/>
              </a:spcBef>
              <a:spcAft>
                <a:spcPts val="0"/>
              </a:spcAft>
              <a:buSzPct val="100000"/>
              <a:buChar char="○"/>
            </a:pPr>
            <a:r>
              <a:rPr lang="en"/>
              <a:t>8.0*xc1rw*xc1rg + 4.0*xc1bw*xc1rg + 8.0*xc1bw*xc1rw + 4.0*xc2rb*xc1bw + 4.0*xc2bw*xc1rw + 2.0*xc2bw*xc1bw + 8.0*xc2bw*xc2rb + 4.0*xc2wg*xc1rg + 4.0*xc2wg*xc1bw + 4.0*xc2wg*xc2rb + 8.0*xc2wg*xc2bw + 4.0*xc3gr*xc1rg + 4.0*xc3gr*xc2rb + 4.0*xc3gr*xc2wg + 2.0*xc3gw*xc1rg + 4.0*xc3gw*xc1rw + 4.0*xc3gw*xc1bw + 4.0*xc3gw*xc2bw + 8.0*xc3gw*xc2wg + 8.0*xc3gw*xc3gr + 4.0*xc3bb*xc3gr + 4.0*xc3bb*xc3gw + 4.0*xc4rb*xc1bw + 8.0*xc4rb*xc2rb + 4.0*xc4rb*xc2bw + 4.0*xc4rb*xc3gr + 4.0*xc4rb*xc4rr + 4.0*xc4wg*xc1rg + 4.0*xc4wg*xc1rw + 4.0*xc4wg*xc1bw + 4.0*xc4wg*xc2bw + 8.0*xc4wg*xc2wg + 4.0*xc4wg*xc3gr + 8.0*xc4wg*xc3gw + 4.0*xc4wg*xc4rr + 4.0*xc4wg*xc4rb + 4.0*xaux0*xc1rg + 4.0*xaux0*xc1rw + -4.0*xaux0*xc2rb + -4.0*xaux0*xc3gr + -4.0*xaux0*xc4rb + 2.0*xaux1*xc1rg + 2.0*xaux1*xc3gr + -4.0*xaux1*xc3gw + 2.0*xaux2*xc1bw + -4.0*xaux2*xc2bw + -4.0*xaux2*xc4rb + 4.0*xaux3*xc1rw + -4.0*xaux3*xc1bw + 4.0*xaux3*xc2bw + -4.0*xaux3*xc2wg + -10.0*xc1rg + -10.0*xc1rw + -10.0*xc1bw + -10.0*xc2rb + -12.0*xc2bw + -10.0*xc2wg + -10.0*xc3gr + -12.0*xc3gw + -10.0*xc4rb + -14.0*xc4wg + 4.0*xaux0 + 2.0*xaux1 + 6.0*xaux2 + 34.0</a:t>
            </a:r>
            <a:endParaRPr/>
          </a:p>
          <a:p>
            <a:pPr indent="-325755" lvl="0" marL="457200" rtl="0" algn="l">
              <a:spcBef>
                <a:spcPts val="1000"/>
              </a:spcBef>
              <a:spcAft>
                <a:spcPts val="0"/>
              </a:spcAft>
              <a:buSzPct val="100000"/>
              <a:buChar char="●"/>
            </a:pPr>
            <a:r>
              <a:rPr lang="en"/>
              <a:t>Given our QUBO, now we can use it as our cost Hamiltonian by converting it to a SparsePauliOp with the </a:t>
            </a:r>
            <a:r>
              <a:rPr lang="en"/>
              <a:t>specific weights we were given from the binary csp process. </a:t>
            </a:r>
            <a:endParaRPr/>
          </a:p>
          <a:p>
            <a:pPr indent="0" lvl="0" marL="0" rtl="0" algn="l">
              <a:spcBef>
                <a:spcPts val="1200"/>
              </a:spcBef>
              <a:spcAft>
                <a:spcPts val="1200"/>
              </a:spcAft>
              <a:buNone/>
            </a:pPr>
            <a:r>
              <a:t/>
            </a:r>
            <a:endParaRPr/>
          </a:p>
        </p:txBody>
      </p:sp>
      <p:pic>
        <p:nvPicPr>
          <p:cNvPr id="136" name="Google Shape;136;p22"/>
          <p:cNvPicPr preferRelativeResize="0"/>
          <p:nvPr/>
        </p:nvPicPr>
        <p:blipFill>
          <a:blip r:embed="rId3">
            <a:alphaModFix/>
          </a:blip>
          <a:stretch>
            <a:fillRect/>
          </a:stretch>
        </p:blipFill>
        <p:spPr>
          <a:xfrm>
            <a:off x="0" y="4296928"/>
            <a:ext cx="9143999" cy="7234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QAOA </a:t>
            </a:r>
            <a:r>
              <a:rPr lang="en"/>
              <a:t>Quantum Circuit</a:t>
            </a:r>
            <a:endParaRPr/>
          </a:p>
        </p:txBody>
      </p:sp>
      <p:sp>
        <p:nvSpPr>
          <p:cNvPr id="142" name="Google Shape;14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3" name="Google Shape;143;p23"/>
          <p:cNvPicPr preferRelativeResize="0"/>
          <p:nvPr/>
        </p:nvPicPr>
        <p:blipFill>
          <a:blip r:embed="rId3">
            <a:alphaModFix/>
          </a:blip>
          <a:stretch>
            <a:fillRect/>
          </a:stretch>
        </p:blipFill>
        <p:spPr>
          <a:xfrm>
            <a:off x="172225" y="1114900"/>
            <a:ext cx="8799550" cy="3574825"/>
          </a:xfrm>
          <a:prstGeom prst="rect">
            <a:avLst/>
          </a:prstGeom>
          <a:noFill/>
          <a:ln>
            <a:noFill/>
          </a:ln>
        </p:spPr>
      </p:pic>
      <p:sp>
        <p:nvSpPr>
          <p:cNvPr id="144" name="Google Shape;144;p23"/>
          <p:cNvSpPr/>
          <p:nvPr/>
        </p:nvSpPr>
        <p:spPr>
          <a:xfrm>
            <a:off x="172225" y="1152475"/>
            <a:ext cx="238800" cy="1147800"/>
          </a:xfrm>
          <a:prstGeom prst="roundRect">
            <a:avLst>
              <a:gd fmla="val 16667" name="adj"/>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3"/>
          <p:cNvSpPr/>
          <p:nvPr/>
        </p:nvSpPr>
        <p:spPr>
          <a:xfrm>
            <a:off x="456725" y="1152475"/>
            <a:ext cx="8226000" cy="1147800"/>
          </a:xfrm>
          <a:prstGeom prst="roundRect">
            <a:avLst>
              <a:gd fmla="val 16667" name="adj"/>
            </a:avLst>
          </a:prstGeom>
          <a:noFill/>
          <a:ln cap="flat" cmpd="sng" w="2857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3"/>
          <p:cNvSpPr/>
          <p:nvPr/>
        </p:nvSpPr>
        <p:spPr>
          <a:xfrm>
            <a:off x="8732975" y="1114900"/>
            <a:ext cx="155700" cy="1147800"/>
          </a:xfrm>
          <a:prstGeom prst="roundRect">
            <a:avLst>
              <a:gd fmla="val 16667" name="adj"/>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3"/>
          <p:cNvSpPr/>
          <p:nvPr/>
        </p:nvSpPr>
        <p:spPr>
          <a:xfrm>
            <a:off x="172225" y="3541925"/>
            <a:ext cx="818400" cy="1147800"/>
          </a:xfrm>
          <a:prstGeom prst="roundRect">
            <a:avLst>
              <a:gd fmla="val 16667" name="adj"/>
            </a:avLst>
          </a:prstGeom>
          <a:no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txBox="1"/>
          <p:nvPr/>
        </p:nvSpPr>
        <p:spPr>
          <a:xfrm>
            <a:off x="77300" y="2341500"/>
            <a:ext cx="1250700" cy="4605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9900"/>
                </a:solidFill>
              </a:rPr>
              <a:t>Hadamart</a:t>
            </a:r>
            <a:endParaRPr sz="1800">
              <a:solidFill>
                <a:srgbClr val="FF9900"/>
              </a:solidFill>
            </a:endParaRPr>
          </a:p>
        </p:txBody>
      </p:sp>
      <p:sp>
        <p:nvSpPr>
          <p:cNvPr id="149" name="Google Shape;149;p23"/>
          <p:cNvSpPr txBox="1"/>
          <p:nvPr/>
        </p:nvSpPr>
        <p:spPr>
          <a:xfrm>
            <a:off x="562150" y="1017725"/>
            <a:ext cx="2670000" cy="460500"/>
          </a:xfrm>
          <a:prstGeom prst="rect">
            <a:avLst/>
          </a:prstGeom>
          <a:solidFill>
            <a:schemeClr val="dk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00"/>
                </a:solidFill>
              </a:rPr>
              <a:t>QAOA Ansatz (gamma)</a:t>
            </a:r>
            <a:endParaRPr sz="1800">
              <a:solidFill>
                <a:srgbClr val="FFFF00"/>
              </a:solidFill>
            </a:endParaRPr>
          </a:p>
        </p:txBody>
      </p:sp>
      <p:sp>
        <p:nvSpPr>
          <p:cNvPr id="150" name="Google Shape;150;p23"/>
          <p:cNvSpPr txBox="1"/>
          <p:nvPr/>
        </p:nvSpPr>
        <p:spPr>
          <a:xfrm>
            <a:off x="7230400" y="1802200"/>
            <a:ext cx="1452300" cy="4605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t>Mixer(beta)</a:t>
            </a:r>
            <a:endParaRPr sz="1800"/>
          </a:p>
        </p:txBody>
      </p:sp>
      <p:sp>
        <p:nvSpPr>
          <p:cNvPr id="151" name="Google Shape;151;p23"/>
          <p:cNvSpPr txBox="1"/>
          <p:nvPr/>
        </p:nvSpPr>
        <p:spPr>
          <a:xfrm>
            <a:off x="1068450" y="3665275"/>
            <a:ext cx="2016300" cy="4605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99999"/>
                </a:solidFill>
              </a:rPr>
              <a:t>Measurements</a:t>
            </a:r>
            <a:endParaRPr sz="1800">
              <a:solidFill>
                <a:srgbClr val="99999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65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pic>
        <p:nvPicPr>
          <p:cNvPr id="157" name="Google Shape;157;p24"/>
          <p:cNvPicPr preferRelativeResize="0"/>
          <p:nvPr/>
        </p:nvPicPr>
        <p:blipFill>
          <a:blip r:embed="rId3">
            <a:alphaModFix/>
          </a:blip>
          <a:stretch>
            <a:fillRect/>
          </a:stretch>
        </p:blipFill>
        <p:spPr>
          <a:xfrm>
            <a:off x="377250" y="1065850"/>
            <a:ext cx="2545825" cy="1838150"/>
          </a:xfrm>
          <a:prstGeom prst="rect">
            <a:avLst/>
          </a:prstGeom>
          <a:noFill/>
          <a:ln>
            <a:noFill/>
          </a:ln>
        </p:spPr>
      </p:pic>
      <p:pic>
        <p:nvPicPr>
          <p:cNvPr id="158" name="Google Shape;158;p24"/>
          <p:cNvPicPr preferRelativeResize="0"/>
          <p:nvPr/>
        </p:nvPicPr>
        <p:blipFill>
          <a:blip r:embed="rId4">
            <a:alphaModFix/>
          </a:blip>
          <a:stretch>
            <a:fillRect/>
          </a:stretch>
        </p:blipFill>
        <p:spPr>
          <a:xfrm>
            <a:off x="3126972" y="1110225"/>
            <a:ext cx="2492416" cy="1838150"/>
          </a:xfrm>
          <a:prstGeom prst="rect">
            <a:avLst/>
          </a:prstGeom>
          <a:noFill/>
          <a:ln>
            <a:noFill/>
          </a:ln>
        </p:spPr>
      </p:pic>
      <p:pic>
        <p:nvPicPr>
          <p:cNvPr id="159" name="Google Shape;159;p24"/>
          <p:cNvPicPr preferRelativeResize="0"/>
          <p:nvPr/>
        </p:nvPicPr>
        <p:blipFill>
          <a:blip r:embed="rId5">
            <a:alphaModFix/>
          </a:blip>
          <a:stretch>
            <a:fillRect/>
          </a:stretch>
        </p:blipFill>
        <p:spPr>
          <a:xfrm>
            <a:off x="6041325" y="1107150"/>
            <a:ext cx="2492425" cy="1755560"/>
          </a:xfrm>
          <a:prstGeom prst="rect">
            <a:avLst/>
          </a:prstGeom>
          <a:noFill/>
          <a:ln>
            <a:noFill/>
          </a:ln>
        </p:spPr>
      </p:pic>
      <p:pic>
        <p:nvPicPr>
          <p:cNvPr id="160" name="Google Shape;160;p24"/>
          <p:cNvPicPr preferRelativeResize="0"/>
          <p:nvPr/>
        </p:nvPicPr>
        <p:blipFill>
          <a:blip r:embed="rId6">
            <a:alphaModFix/>
          </a:blip>
          <a:stretch>
            <a:fillRect/>
          </a:stretch>
        </p:blipFill>
        <p:spPr>
          <a:xfrm>
            <a:off x="6041325" y="3131675"/>
            <a:ext cx="2680405" cy="1859425"/>
          </a:xfrm>
          <a:prstGeom prst="rect">
            <a:avLst/>
          </a:prstGeom>
          <a:noFill/>
          <a:ln>
            <a:noFill/>
          </a:ln>
        </p:spPr>
      </p:pic>
      <p:sp>
        <p:nvSpPr>
          <p:cNvPr id="161" name="Google Shape;161;p24"/>
          <p:cNvSpPr txBox="1"/>
          <p:nvPr/>
        </p:nvSpPr>
        <p:spPr>
          <a:xfrm>
            <a:off x="1525075" y="1107150"/>
            <a:ext cx="1398000" cy="1053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31515"/>
                </a:solidFill>
                <a:highlight>
                  <a:srgbClr val="FFFFFF"/>
                </a:highlight>
                <a:latin typeface="Courier New"/>
                <a:ea typeface="Courier New"/>
                <a:cs typeface="Courier New"/>
                <a:sym typeface="Courier New"/>
              </a:rPr>
              <a:t>Nelder-Mead</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A31515"/>
                </a:solidFill>
                <a:highlight>
                  <a:srgbClr val="FFFFFF"/>
                </a:highlight>
                <a:latin typeface="Courier New"/>
                <a:ea typeface="Courier New"/>
                <a:cs typeface="Courier New"/>
                <a:sym typeface="Courier New"/>
              </a:rPr>
              <a:t>With damped jumps and bounds</a:t>
            </a:r>
            <a:endParaRPr sz="105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162" name="Google Shape;162;p24"/>
          <p:cNvSpPr txBox="1"/>
          <p:nvPr/>
        </p:nvSpPr>
        <p:spPr>
          <a:xfrm>
            <a:off x="4221400" y="1168200"/>
            <a:ext cx="1398000" cy="1053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31515"/>
                </a:solidFill>
                <a:highlight>
                  <a:srgbClr val="FFFFFF"/>
                </a:highlight>
                <a:latin typeface="Courier New"/>
                <a:ea typeface="Courier New"/>
                <a:cs typeface="Courier New"/>
                <a:sym typeface="Courier New"/>
              </a:rPr>
              <a:t>Bound COBYLA</a:t>
            </a:r>
            <a:endParaRPr sz="105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163" name="Google Shape;163;p24"/>
          <p:cNvSpPr txBox="1"/>
          <p:nvPr/>
        </p:nvSpPr>
        <p:spPr>
          <a:xfrm>
            <a:off x="6966350" y="1168200"/>
            <a:ext cx="1398000" cy="1053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31515"/>
                </a:solidFill>
                <a:highlight>
                  <a:srgbClr val="FFFFFF"/>
                </a:highlight>
                <a:latin typeface="Courier New"/>
                <a:ea typeface="Courier New"/>
                <a:cs typeface="Courier New"/>
                <a:sym typeface="Courier New"/>
              </a:rPr>
              <a:t>Default </a:t>
            </a:r>
            <a:r>
              <a:rPr lang="en" sz="1050">
                <a:solidFill>
                  <a:srgbClr val="A31515"/>
                </a:solidFill>
                <a:highlight>
                  <a:srgbClr val="FFFFFF"/>
                </a:highlight>
                <a:latin typeface="Courier New"/>
                <a:ea typeface="Courier New"/>
                <a:cs typeface="Courier New"/>
                <a:sym typeface="Courier New"/>
              </a:rPr>
              <a:t>COBYLA on a QPU (</a:t>
            </a:r>
            <a:r>
              <a:rPr lang="en" sz="900">
                <a:solidFill>
                  <a:schemeClr val="dk1"/>
                </a:solidFill>
                <a:highlight>
                  <a:srgbClr val="FFFFFF"/>
                </a:highlight>
                <a:latin typeface="Roboto"/>
                <a:ea typeface="Roboto"/>
                <a:cs typeface="Roboto"/>
                <a:sym typeface="Roboto"/>
              </a:rPr>
              <a:t>aws_sv1</a:t>
            </a:r>
            <a:r>
              <a:rPr lang="en" sz="1050">
                <a:solidFill>
                  <a:srgbClr val="A31515"/>
                </a:solidFill>
                <a:highlight>
                  <a:srgbClr val="FFFFFF"/>
                </a:highlight>
                <a:latin typeface="Courier New"/>
                <a:ea typeface="Courier New"/>
                <a:cs typeface="Courier New"/>
                <a:sym typeface="Courier New"/>
              </a:rPr>
              <a:t>)</a:t>
            </a:r>
            <a:endParaRPr sz="105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pic>
        <p:nvPicPr>
          <p:cNvPr id="164" name="Google Shape;164;p24"/>
          <p:cNvPicPr preferRelativeResize="0"/>
          <p:nvPr/>
        </p:nvPicPr>
        <p:blipFill>
          <a:blip r:embed="rId7">
            <a:alphaModFix/>
          </a:blip>
          <a:stretch>
            <a:fillRect/>
          </a:stretch>
        </p:blipFill>
        <p:spPr>
          <a:xfrm>
            <a:off x="3274275" y="3000288"/>
            <a:ext cx="2492425" cy="1859436"/>
          </a:xfrm>
          <a:prstGeom prst="rect">
            <a:avLst/>
          </a:prstGeom>
          <a:noFill/>
          <a:ln>
            <a:noFill/>
          </a:ln>
        </p:spPr>
      </p:pic>
      <p:pic>
        <p:nvPicPr>
          <p:cNvPr id="165" name="Google Shape;165;p24"/>
          <p:cNvPicPr preferRelativeResize="0"/>
          <p:nvPr/>
        </p:nvPicPr>
        <p:blipFill>
          <a:blip r:embed="rId8">
            <a:alphaModFix/>
          </a:blip>
          <a:stretch>
            <a:fillRect/>
          </a:stretch>
        </p:blipFill>
        <p:spPr>
          <a:xfrm>
            <a:off x="554551" y="3000300"/>
            <a:ext cx="2668499" cy="1990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None of them are perfect</a:t>
            </a:r>
            <a:endParaRPr/>
          </a:p>
        </p:txBody>
      </p:sp>
      <p:sp>
        <p:nvSpPr>
          <p:cNvPr id="171" name="Google Shape;171;p25"/>
          <p:cNvSpPr txBox="1"/>
          <p:nvPr>
            <p:ph idx="1" type="body"/>
          </p:nvPr>
        </p:nvSpPr>
        <p:spPr>
          <a:xfrm>
            <a:off x="311700" y="1152475"/>
            <a:ext cx="8520600" cy="328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Nelder - very localized</a:t>
            </a:r>
            <a:endParaRPr/>
          </a:p>
          <a:p>
            <a:pPr indent="-342900" lvl="0" marL="457200" rtl="0" algn="l">
              <a:spcBef>
                <a:spcPts val="0"/>
              </a:spcBef>
              <a:spcAft>
                <a:spcPts val="0"/>
              </a:spcAft>
              <a:buSzPts val="1800"/>
              <a:buChar char="●"/>
            </a:pPr>
            <a:r>
              <a:rPr lang="en"/>
              <a:t>COBYLA - spread out </a:t>
            </a:r>
            <a:endParaRPr/>
          </a:p>
          <a:p>
            <a:pPr indent="-342900" lvl="0" marL="457200" rtl="0" algn="l">
              <a:spcBef>
                <a:spcPts val="0"/>
              </a:spcBef>
              <a:spcAft>
                <a:spcPts val="0"/>
              </a:spcAft>
              <a:buSzPts val="1800"/>
              <a:buChar char="●"/>
            </a:pPr>
            <a:r>
              <a:rPr lang="en"/>
              <a:t>Analysing more probable wrong outputs suggested that some penalties were just not enough and some were outweighing others.</a:t>
            </a:r>
            <a:endParaRPr/>
          </a:p>
          <a:p>
            <a:pPr indent="-342900" lvl="0" marL="457200" rtl="0" algn="l">
              <a:spcBef>
                <a:spcPts val="0"/>
              </a:spcBef>
              <a:spcAft>
                <a:spcPts val="0"/>
              </a:spcAft>
              <a:buSzPts val="1800"/>
              <a:buChar char="●"/>
            </a:pPr>
            <a:r>
              <a:rPr lang="en"/>
              <a:t>Example: if the system accepted one rule-violation to persist the other violations </a:t>
            </a:r>
            <a:r>
              <a:rPr lang="en"/>
              <a:t>could be easily taken care of  </a:t>
            </a:r>
            <a:endParaRPr/>
          </a:p>
          <a:p>
            <a:pPr indent="-342900" lvl="0" marL="457200" rtl="0" algn="l">
              <a:spcBef>
                <a:spcPts val="0"/>
              </a:spcBef>
              <a:spcAft>
                <a:spcPts val="0"/>
              </a:spcAft>
              <a:buSzPts val="1800"/>
              <a:buChar char="●"/>
            </a:pPr>
            <a:r>
              <a:rPr lang="en"/>
              <a:t>Also P was needed to be kept small and bounds needed to be made to not let search space explode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311700" y="276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Approach so far - Hybrid + Tailored Energy-Cost function </a:t>
            </a:r>
            <a:endParaRPr/>
          </a:p>
        </p:txBody>
      </p:sp>
      <p:sp>
        <p:nvSpPr>
          <p:cNvPr id="177" name="Google Shape;17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00FF"/>
                </a:solidFill>
                <a:highlight>
                  <a:srgbClr val="FFFFFF"/>
                </a:highlight>
                <a:latin typeface="Courier New"/>
                <a:ea typeface="Courier New"/>
                <a:cs typeface="Courier New"/>
                <a:sym typeface="Courier New"/>
              </a:rPr>
              <a:t># COBYLA goes haywire and </a:t>
            </a:r>
            <a:r>
              <a:rPr lang="en" sz="1050">
                <a:solidFill>
                  <a:srgbClr val="0000FF"/>
                </a:solidFill>
                <a:highlight>
                  <a:srgbClr val="FFFFFF"/>
                </a:highlight>
                <a:latin typeface="Courier New"/>
                <a:ea typeface="Courier New"/>
                <a:cs typeface="Courier New"/>
                <a:sym typeface="Courier New"/>
              </a:rPr>
              <a:t>tries</a:t>
            </a:r>
            <a:r>
              <a:rPr lang="en" sz="1050">
                <a:solidFill>
                  <a:srgbClr val="0000FF"/>
                </a:solidFill>
                <a:highlight>
                  <a:srgbClr val="FFFFFF"/>
                </a:highlight>
                <a:latin typeface="Courier New"/>
                <a:ea typeface="Courier New"/>
                <a:cs typeface="Courier New"/>
                <a:sym typeface="Courier New"/>
              </a:rPr>
              <a:t> to find everything everywhere so get a ballpark of solutions there the use NELDER to hone in</a:t>
            </a:r>
            <a:endParaRPr sz="1050">
              <a:solidFill>
                <a:srgbClr val="0000FF"/>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78" name="Google Shape;178;p26"/>
          <p:cNvPicPr preferRelativeResize="0"/>
          <p:nvPr/>
        </p:nvPicPr>
        <p:blipFill>
          <a:blip r:embed="rId3">
            <a:alphaModFix/>
          </a:blip>
          <a:stretch>
            <a:fillRect/>
          </a:stretch>
        </p:blipFill>
        <p:spPr>
          <a:xfrm>
            <a:off x="484850" y="1815425"/>
            <a:ext cx="4053425" cy="2973475"/>
          </a:xfrm>
          <a:prstGeom prst="rect">
            <a:avLst/>
          </a:prstGeom>
          <a:noFill/>
          <a:ln>
            <a:noFill/>
          </a:ln>
        </p:spPr>
      </p:pic>
      <p:pic>
        <p:nvPicPr>
          <p:cNvPr id="179" name="Google Shape;179;p26"/>
          <p:cNvPicPr preferRelativeResize="0"/>
          <p:nvPr/>
        </p:nvPicPr>
        <p:blipFill>
          <a:blip r:embed="rId4">
            <a:alphaModFix/>
          </a:blip>
          <a:stretch>
            <a:fillRect/>
          </a:stretch>
        </p:blipFill>
        <p:spPr>
          <a:xfrm>
            <a:off x="4670175" y="1678875"/>
            <a:ext cx="4162124" cy="3110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Modified Cost Function</a:t>
            </a:r>
            <a:endParaRPr/>
          </a:p>
        </p:txBody>
      </p:sp>
      <p:sp>
        <p:nvSpPr>
          <p:cNvPr id="185" name="Google Shape;185;p27"/>
          <p:cNvSpPr txBox="1"/>
          <p:nvPr>
            <p:ph idx="1" type="body"/>
          </p:nvPr>
        </p:nvSpPr>
        <p:spPr>
          <a:xfrm>
            <a:off x="5450400" y="948675"/>
            <a:ext cx="3693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Clr>
                <a:schemeClr val="dk1"/>
              </a:buClr>
              <a:buSzPts val="605"/>
              <a:buFont typeface="Arial"/>
              <a:buNone/>
            </a:pPr>
            <a:r>
              <a:rPr lang="en" sz="677">
                <a:solidFill>
                  <a:srgbClr val="0000FF"/>
                </a:solidFill>
                <a:highlight>
                  <a:srgbClr val="FFFFFF"/>
                </a:highlight>
                <a:latin typeface="Courier New"/>
                <a:ea typeface="Courier New"/>
                <a:cs typeface="Courier New"/>
                <a:sym typeface="Courier New"/>
              </a:rPr>
              <a:t>def</a:t>
            </a:r>
            <a:r>
              <a:rPr lang="en" sz="677">
                <a:solidFill>
                  <a:schemeClr val="dk1"/>
                </a:solidFill>
                <a:highlight>
                  <a:srgbClr val="FFFFFF"/>
                </a:highlight>
                <a:latin typeface="Courier New"/>
                <a:ea typeface="Courier New"/>
                <a:cs typeface="Courier New"/>
                <a:sym typeface="Courier New"/>
              </a:rPr>
              <a:t> </a:t>
            </a:r>
            <a:r>
              <a:rPr lang="en" sz="677">
                <a:solidFill>
                  <a:srgbClr val="6A5221"/>
                </a:solidFill>
                <a:highlight>
                  <a:srgbClr val="FFFFFF"/>
                </a:highlight>
                <a:latin typeface="Courier New"/>
                <a:ea typeface="Courier New"/>
                <a:cs typeface="Courier New"/>
                <a:sym typeface="Courier New"/>
              </a:rPr>
              <a:t>compute_expectation</a:t>
            </a:r>
            <a:r>
              <a:rPr lang="en" sz="677">
                <a:solidFill>
                  <a:schemeClr val="dk1"/>
                </a:solidFill>
                <a:highlight>
                  <a:srgbClr val="FFFFFF"/>
                </a:highlight>
                <a:latin typeface="Courier New"/>
                <a:ea typeface="Courier New"/>
                <a:cs typeface="Courier New"/>
                <a:sym typeface="Courier New"/>
              </a:rPr>
              <a:t>(</a:t>
            </a:r>
            <a:r>
              <a:rPr lang="en" sz="677">
                <a:solidFill>
                  <a:srgbClr val="001080"/>
                </a:solidFill>
                <a:highlight>
                  <a:srgbClr val="FFFFFF"/>
                </a:highlight>
                <a:latin typeface="Courier New"/>
                <a:ea typeface="Courier New"/>
                <a:cs typeface="Courier New"/>
                <a:sym typeface="Courier New"/>
              </a:rPr>
              <a:t>counts</a:t>
            </a:r>
            <a:r>
              <a:rPr lang="en" sz="677">
                <a:solidFill>
                  <a:schemeClr val="dk1"/>
                </a:solidFill>
                <a:highlight>
                  <a:srgbClr val="FFFFFF"/>
                </a:highlight>
                <a:latin typeface="Courier New"/>
                <a:ea typeface="Courier New"/>
                <a:cs typeface="Courier New"/>
                <a:sym typeface="Courier New"/>
              </a:rPr>
              <a:t>):</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SzPts val="605"/>
              <a:buNone/>
            </a:pPr>
            <a:r>
              <a:rPr lang="en" sz="677">
                <a:solidFill>
                  <a:schemeClr val="dk1"/>
                </a:solidFill>
                <a:highlight>
                  <a:srgbClr val="FFFFFF"/>
                </a:highlight>
                <a:latin typeface="Courier New"/>
                <a:ea typeface="Courier New"/>
                <a:cs typeface="Courier New"/>
                <a:sym typeface="Courier New"/>
              </a:rPr>
              <a:t>      total = </a:t>
            </a:r>
            <a:r>
              <a:rPr lang="en" sz="677">
                <a:solidFill>
                  <a:srgbClr val="116644"/>
                </a:solidFill>
                <a:highlight>
                  <a:srgbClr val="FFFFFF"/>
                </a:highlight>
                <a:latin typeface="Courier New"/>
                <a:ea typeface="Courier New"/>
                <a:cs typeface="Courier New"/>
                <a:sym typeface="Courier New"/>
              </a:rPr>
              <a:t>0</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total_shots = </a:t>
            </a:r>
            <a:r>
              <a:rPr lang="en" sz="677">
                <a:solidFill>
                  <a:srgbClr val="6A5221"/>
                </a:solidFill>
                <a:highlight>
                  <a:srgbClr val="FFFFFF"/>
                </a:highlight>
                <a:latin typeface="Courier New"/>
                <a:ea typeface="Courier New"/>
                <a:cs typeface="Courier New"/>
                <a:sym typeface="Courier New"/>
              </a:rPr>
              <a:t>sum</a:t>
            </a:r>
            <a:r>
              <a:rPr lang="en" sz="677">
                <a:solidFill>
                  <a:schemeClr val="dk1"/>
                </a:solidFill>
                <a:highlight>
                  <a:srgbClr val="FFFFFF"/>
                </a:highlight>
                <a:latin typeface="Courier New"/>
                <a:ea typeface="Courier New"/>
                <a:cs typeface="Courier New"/>
                <a:sym typeface="Courier New"/>
              </a:rPr>
              <a:t>(counts.values())</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for</a:t>
            </a:r>
            <a:r>
              <a:rPr lang="en" sz="677">
                <a:solidFill>
                  <a:schemeClr val="dk1"/>
                </a:solidFill>
                <a:highlight>
                  <a:srgbClr val="FFFFFF"/>
                </a:highlight>
                <a:latin typeface="Courier New"/>
                <a:ea typeface="Courier New"/>
                <a:cs typeface="Courier New"/>
                <a:sym typeface="Courier New"/>
              </a:rPr>
              <a:t> bitstring, count </a:t>
            </a:r>
            <a:r>
              <a:rPr lang="en" sz="677">
                <a:solidFill>
                  <a:srgbClr val="0000FF"/>
                </a:solidFill>
                <a:highlight>
                  <a:srgbClr val="FFFFFF"/>
                </a:highlight>
                <a:latin typeface="Courier New"/>
                <a:ea typeface="Courier New"/>
                <a:cs typeface="Courier New"/>
                <a:sym typeface="Courier New"/>
              </a:rPr>
              <a:t>in</a:t>
            </a:r>
            <a:r>
              <a:rPr lang="en" sz="677">
                <a:solidFill>
                  <a:schemeClr val="dk1"/>
                </a:solidFill>
                <a:highlight>
                  <a:srgbClr val="FFFFFF"/>
                </a:highlight>
                <a:latin typeface="Courier New"/>
                <a:ea typeface="Courier New"/>
                <a:cs typeface="Courier New"/>
                <a:sym typeface="Courier New"/>
              </a:rPr>
              <a:t> counts.items():</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obj = </a:t>
            </a:r>
            <a:r>
              <a:rPr lang="en" sz="677">
                <a:solidFill>
                  <a:srgbClr val="116644"/>
                </a:solidFill>
                <a:highlight>
                  <a:srgbClr val="FFFFFF"/>
                </a:highlight>
                <a:latin typeface="Courier New"/>
                <a:ea typeface="Courier New"/>
                <a:cs typeface="Courier New"/>
                <a:sym typeface="Courier New"/>
              </a:rPr>
              <a:t>0</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sample_values_as_ints = [</a:t>
            </a:r>
            <a:r>
              <a:rPr lang="en" sz="677">
                <a:solidFill>
                  <a:srgbClr val="257693"/>
                </a:solidFill>
                <a:highlight>
                  <a:srgbClr val="FFFFFF"/>
                </a:highlight>
                <a:latin typeface="Courier New"/>
                <a:ea typeface="Courier New"/>
                <a:cs typeface="Courier New"/>
                <a:sym typeface="Courier New"/>
              </a:rPr>
              <a:t>int</a:t>
            </a:r>
            <a:r>
              <a:rPr lang="en" sz="677">
                <a:solidFill>
                  <a:schemeClr val="dk1"/>
                </a:solidFill>
                <a:highlight>
                  <a:srgbClr val="FFFFFF"/>
                </a:highlight>
                <a:latin typeface="Courier New"/>
                <a:ea typeface="Courier New"/>
                <a:cs typeface="Courier New"/>
                <a:sym typeface="Courier New"/>
              </a:rPr>
              <a:t>(bit) </a:t>
            </a:r>
            <a:r>
              <a:rPr lang="en" sz="677">
                <a:solidFill>
                  <a:srgbClr val="9723B4"/>
                </a:solidFill>
                <a:highlight>
                  <a:srgbClr val="FFFFFF"/>
                </a:highlight>
                <a:latin typeface="Courier New"/>
                <a:ea typeface="Courier New"/>
                <a:cs typeface="Courier New"/>
                <a:sym typeface="Courier New"/>
              </a:rPr>
              <a:t>for</a:t>
            </a:r>
            <a:r>
              <a:rPr lang="en" sz="677">
                <a:solidFill>
                  <a:schemeClr val="dk1"/>
                </a:solidFill>
                <a:highlight>
                  <a:srgbClr val="FFFFFF"/>
                </a:highlight>
                <a:latin typeface="Courier New"/>
                <a:ea typeface="Courier New"/>
                <a:cs typeface="Courier New"/>
                <a:sym typeface="Courier New"/>
              </a:rPr>
              <a:t> bit </a:t>
            </a:r>
            <a:r>
              <a:rPr lang="en" sz="677">
                <a:solidFill>
                  <a:srgbClr val="0000FF"/>
                </a:solidFill>
                <a:highlight>
                  <a:srgbClr val="FFFFFF"/>
                </a:highlight>
                <a:latin typeface="Courier New"/>
                <a:ea typeface="Courier New"/>
                <a:cs typeface="Courier New"/>
                <a:sym typeface="Courier New"/>
              </a:rPr>
              <a:t>in</a:t>
            </a:r>
            <a:r>
              <a:rPr lang="en" sz="677">
                <a:solidFill>
                  <a:schemeClr val="dk1"/>
                </a:solidFill>
                <a:highlight>
                  <a:srgbClr val="FFFFFF"/>
                </a:highlight>
                <a:latin typeface="Courier New"/>
                <a:ea typeface="Courier New"/>
                <a:cs typeface="Courier New"/>
                <a:sym typeface="Courier New"/>
              </a:rPr>
              <a:t> bitstring]</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 = </a:t>
            </a:r>
            <a:r>
              <a:rPr lang="en" sz="677">
                <a:solidFill>
                  <a:srgbClr val="257693"/>
                </a:solidFill>
                <a:highlight>
                  <a:srgbClr val="FFFFFF"/>
                </a:highlight>
                <a:latin typeface="Courier New"/>
                <a:ea typeface="Courier New"/>
                <a:cs typeface="Courier New"/>
                <a:sym typeface="Courier New"/>
              </a:rPr>
              <a:t>dict</a:t>
            </a:r>
            <a:r>
              <a:rPr lang="en" sz="677">
                <a:solidFill>
                  <a:schemeClr val="dk1"/>
                </a:solidFill>
                <a:highlight>
                  <a:srgbClr val="FFFFFF"/>
                </a:highlight>
                <a:latin typeface="Courier New"/>
                <a:ea typeface="Courier New"/>
                <a:cs typeface="Courier New"/>
                <a:sym typeface="Courier New"/>
              </a:rPr>
              <a:t>(</a:t>
            </a:r>
            <a:r>
              <a:rPr lang="en" sz="677">
                <a:solidFill>
                  <a:srgbClr val="6A5221"/>
                </a:solidFill>
                <a:highlight>
                  <a:srgbClr val="FFFFFF"/>
                </a:highlight>
                <a:latin typeface="Courier New"/>
                <a:ea typeface="Courier New"/>
                <a:cs typeface="Courier New"/>
                <a:sym typeface="Courier New"/>
              </a:rPr>
              <a:t>zip</a:t>
            </a:r>
            <a:r>
              <a:rPr lang="en" sz="677">
                <a:solidFill>
                  <a:schemeClr val="dk1"/>
                </a:solidFill>
                <a:highlight>
                  <a:srgbClr val="FFFFFF"/>
                </a:highlight>
                <a:latin typeface="Courier New"/>
                <a:ea typeface="Courier New"/>
                <a:cs typeface="Courier New"/>
                <a:sym typeface="Courier New"/>
              </a:rPr>
              <a:t>(bqm.variables, sample_values_as_ints))</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a:t>
            </a:r>
            <a:r>
              <a:rPr lang="en" sz="677">
                <a:solidFill>
                  <a:srgbClr val="A31515"/>
                </a:solidFill>
                <a:highlight>
                  <a:srgbClr val="FFFFFF"/>
                </a:highlight>
                <a:latin typeface="Courier New"/>
                <a:ea typeface="Courier New"/>
                <a:cs typeface="Courier New"/>
                <a:sym typeface="Courier New"/>
              </a:rPr>
              <a:t>'aux0'</a:t>
            </a:r>
            <a:r>
              <a:rPr lang="en" sz="677">
                <a:solidFill>
                  <a:schemeClr val="dk1"/>
                </a:solidFill>
                <a:highlight>
                  <a:srgbClr val="FFFFFF"/>
                </a:highlight>
                <a:latin typeface="Courier New"/>
                <a:ea typeface="Courier New"/>
                <a:cs typeface="Courier New"/>
                <a:sym typeface="Courier New"/>
              </a:rPr>
              <a:t>] = </a:t>
            </a:r>
            <a:r>
              <a:rPr lang="en" sz="677">
                <a:solidFill>
                  <a:srgbClr val="116644"/>
                </a:solidFill>
                <a:highlight>
                  <a:srgbClr val="FFFFFF"/>
                </a:highlight>
                <a:latin typeface="Courier New"/>
                <a:ea typeface="Courier New"/>
                <a:cs typeface="Courier New"/>
                <a:sym typeface="Courier New"/>
              </a:rPr>
              <a:t>1</a:t>
            </a:r>
            <a:endParaRPr sz="677">
              <a:solidFill>
                <a:srgbClr val="116644"/>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a:t>
            </a:r>
            <a:r>
              <a:rPr lang="en" sz="677">
                <a:solidFill>
                  <a:srgbClr val="A31515"/>
                </a:solidFill>
                <a:highlight>
                  <a:srgbClr val="FFFFFF"/>
                </a:highlight>
                <a:latin typeface="Courier New"/>
                <a:ea typeface="Courier New"/>
                <a:cs typeface="Courier New"/>
                <a:sym typeface="Courier New"/>
              </a:rPr>
              <a:t>'aux1'</a:t>
            </a:r>
            <a:r>
              <a:rPr lang="en" sz="677">
                <a:solidFill>
                  <a:schemeClr val="dk1"/>
                </a:solidFill>
                <a:highlight>
                  <a:srgbClr val="FFFFFF"/>
                </a:highlight>
                <a:latin typeface="Courier New"/>
                <a:ea typeface="Courier New"/>
                <a:cs typeface="Courier New"/>
                <a:sym typeface="Courier New"/>
              </a:rPr>
              <a:t>] = </a:t>
            </a:r>
            <a:r>
              <a:rPr lang="en" sz="677">
                <a:solidFill>
                  <a:srgbClr val="116644"/>
                </a:solidFill>
                <a:highlight>
                  <a:srgbClr val="FFFFFF"/>
                </a:highlight>
                <a:latin typeface="Courier New"/>
                <a:ea typeface="Courier New"/>
                <a:cs typeface="Courier New"/>
                <a:sym typeface="Courier New"/>
              </a:rPr>
              <a:t>0</a:t>
            </a:r>
            <a:endParaRPr sz="677">
              <a:solidFill>
                <a:srgbClr val="116644"/>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a:t>
            </a:r>
            <a:r>
              <a:rPr lang="en" sz="677">
                <a:solidFill>
                  <a:srgbClr val="A31515"/>
                </a:solidFill>
                <a:highlight>
                  <a:srgbClr val="FFFFFF"/>
                </a:highlight>
                <a:latin typeface="Courier New"/>
                <a:ea typeface="Courier New"/>
                <a:cs typeface="Courier New"/>
                <a:sym typeface="Courier New"/>
              </a:rPr>
              <a:t>'aux2'</a:t>
            </a:r>
            <a:r>
              <a:rPr lang="en" sz="677">
                <a:solidFill>
                  <a:schemeClr val="dk1"/>
                </a:solidFill>
                <a:highlight>
                  <a:srgbClr val="FFFFFF"/>
                </a:highlight>
                <a:latin typeface="Courier New"/>
                <a:ea typeface="Courier New"/>
                <a:cs typeface="Courier New"/>
                <a:sym typeface="Courier New"/>
              </a:rPr>
              <a:t>] =</a:t>
            </a:r>
            <a:r>
              <a:rPr lang="en" sz="677">
                <a:solidFill>
                  <a:srgbClr val="116644"/>
                </a:solidFill>
                <a:highlight>
                  <a:srgbClr val="FFFFFF"/>
                </a:highlight>
                <a:latin typeface="Courier New"/>
                <a:ea typeface="Courier New"/>
                <a:cs typeface="Courier New"/>
                <a:sym typeface="Courier New"/>
              </a:rPr>
              <a:t>1</a:t>
            </a:r>
            <a:endParaRPr sz="677">
              <a:solidFill>
                <a:srgbClr val="116644"/>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sample[</a:t>
            </a:r>
            <a:r>
              <a:rPr lang="en" sz="677">
                <a:solidFill>
                  <a:srgbClr val="A31515"/>
                </a:solidFill>
                <a:highlight>
                  <a:srgbClr val="FFFFFF"/>
                </a:highlight>
                <a:latin typeface="Courier New"/>
                <a:ea typeface="Courier New"/>
                <a:cs typeface="Courier New"/>
                <a:sym typeface="Courier New"/>
              </a:rPr>
              <a:t>'aux3'</a:t>
            </a:r>
            <a:r>
              <a:rPr lang="en" sz="677">
                <a:solidFill>
                  <a:schemeClr val="dk1"/>
                </a:solidFill>
                <a:highlight>
                  <a:srgbClr val="FFFFFF"/>
                </a:highlight>
                <a:latin typeface="Courier New"/>
                <a:ea typeface="Courier New"/>
                <a:cs typeface="Courier New"/>
                <a:sym typeface="Courier New"/>
              </a:rPr>
              <a:t>] = </a:t>
            </a:r>
            <a:r>
              <a:rPr lang="en" sz="677">
                <a:solidFill>
                  <a:srgbClr val="116644"/>
                </a:solidFill>
                <a:highlight>
                  <a:srgbClr val="FFFFFF"/>
                </a:highlight>
                <a:latin typeface="Courier New"/>
                <a:ea typeface="Courier New"/>
                <a:cs typeface="Courier New"/>
                <a:sym typeface="Courier New"/>
              </a:rPr>
              <a:t>1</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for</a:t>
            </a:r>
            <a:r>
              <a:rPr lang="en" sz="677">
                <a:solidFill>
                  <a:schemeClr val="dk1"/>
                </a:solidFill>
                <a:highlight>
                  <a:srgbClr val="FFFFFF"/>
                </a:highlight>
                <a:latin typeface="Courier New"/>
                <a:ea typeface="Courier New"/>
                <a:cs typeface="Courier New"/>
                <a:sym typeface="Courier New"/>
              </a:rPr>
              <a:t> i, constraint </a:t>
            </a:r>
            <a:r>
              <a:rPr lang="en" sz="677">
                <a:solidFill>
                  <a:srgbClr val="0000FF"/>
                </a:solidFill>
                <a:highlight>
                  <a:srgbClr val="FFFFFF"/>
                </a:highlight>
                <a:latin typeface="Courier New"/>
                <a:ea typeface="Courier New"/>
                <a:cs typeface="Courier New"/>
                <a:sym typeface="Courier New"/>
              </a:rPr>
              <a:t>in</a:t>
            </a:r>
            <a:r>
              <a:rPr lang="en" sz="677">
                <a:solidFill>
                  <a:schemeClr val="dk1"/>
                </a:solidFill>
                <a:highlight>
                  <a:srgbClr val="FFFFFF"/>
                </a:highlight>
                <a:latin typeface="Courier New"/>
                <a:ea typeface="Courier New"/>
                <a:cs typeface="Courier New"/>
                <a:sym typeface="Courier New"/>
              </a:rPr>
              <a:t> </a:t>
            </a:r>
            <a:r>
              <a:rPr lang="en" sz="677">
                <a:solidFill>
                  <a:srgbClr val="6A5221"/>
                </a:solidFill>
                <a:highlight>
                  <a:srgbClr val="FFFFFF"/>
                </a:highlight>
                <a:latin typeface="Courier New"/>
                <a:ea typeface="Courier New"/>
                <a:cs typeface="Courier New"/>
                <a:sym typeface="Courier New"/>
              </a:rPr>
              <a:t>enumerate</a:t>
            </a:r>
            <a:r>
              <a:rPr lang="en" sz="677">
                <a:solidFill>
                  <a:schemeClr val="dk1"/>
                </a:solidFill>
                <a:highlight>
                  <a:srgbClr val="FFFFFF"/>
                </a:highlight>
                <a:latin typeface="Courier New"/>
                <a:ea typeface="Courier New"/>
                <a:cs typeface="Courier New"/>
                <a:sym typeface="Courier New"/>
              </a:rPr>
              <a:t>(csp1.constraints):</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passed = constraint.check(sample)</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if</a:t>
            </a:r>
            <a:r>
              <a:rPr lang="en" sz="677">
                <a:solidFill>
                  <a:schemeClr val="dk1"/>
                </a:solidFill>
                <a:highlight>
                  <a:srgbClr val="FFFFFF"/>
                </a:highlight>
                <a:latin typeface="Courier New"/>
                <a:ea typeface="Courier New"/>
                <a:cs typeface="Courier New"/>
                <a:sym typeface="Courier New"/>
              </a:rPr>
              <a:t> (</a:t>
            </a:r>
            <a:r>
              <a:rPr lang="en" sz="677">
                <a:solidFill>
                  <a:srgbClr val="0000FF"/>
                </a:solidFill>
                <a:highlight>
                  <a:srgbClr val="FFFFFF"/>
                </a:highlight>
                <a:latin typeface="Courier New"/>
                <a:ea typeface="Courier New"/>
                <a:cs typeface="Courier New"/>
                <a:sym typeface="Courier New"/>
              </a:rPr>
              <a:t>not</a:t>
            </a:r>
            <a:r>
              <a:rPr lang="en" sz="677">
                <a:solidFill>
                  <a:schemeClr val="dk1"/>
                </a:solidFill>
                <a:highlight>
                  <a:srgbClr val="FFFFFF"/>
                </a:highlight>
                <a:latin typeface="Courier New"/>
                <a:ea typeface="Courier New"/>
                <a:cs typeface="Courier New"/>
                <a:sym typeface="Courier New"/>
              </a:rPr>
              <a:t> passed):</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chemeClr val="dk1"/>
                </a:solidFill>
                <a:highlight>
                  <a:srgbClr val="FFFF00"/>
                </a:highlight>
                <a:latin typeface="Courier New"/>
                <a:ea typeface="Courier New"/>
                <a:cs typeface="Courier New"/>
                <a:sym typeface="Courier New"/>
              </a:rPr>
              <a:t>total += </a:t>
            </a:r>
            <a:r>
              <a:rPr lang="en" sz="677">
                <a:solidFill>
                  <a:srgbClr val="116644"/>
                </a:solidFill>
                <a:highlight>
                  <a:srgbClr val="FFFF00"/>
                </a:highlight>
                <a:latin typeface="Courier New"/>
                <a:ea typeface="Courier New"/>
                <a:cs typeface="Courier New"/>
                <a:sym typeface="Courier New"/>
              </a:rPr>
              <a:t>30</a:t>
            </a:r>
            <a:r>
              <a:rPr lang="en" sz="677">
                <a:solidFill>
                  <a:schemeClr val="dk1"/>
                </a:solidFill>
                <a:highlight>
                  <a:srgbClr val="FFFF00"/>
                </a:highlight>
                <a:latin typeface="Courier New"/>
                <a:ea typeface="Courier New"/>
                <a:cs typeface="Courier New"/>
                <a:sym typeface="Courier New"/>
              </a:rPr>
              <a:t>*bqm_rule1.energy(sample)</a:t>
            </a:r>
            <a:endParaRPr sz="677">
              <a:solidFill>
                <a:schemeClr val="dk1"/>
              </a:solidFill>
              <a:highlight>
                <a:srgbClr val="FFFF00"/>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for</a:t>
            </a:r>
            <a:r>
              <a:rPr lang="en" sz="677">
                <a:solidFill>
                  <a:schemeClr val="dk1"/>
                </a:solidFill>
                <a:highlight>
                  <a:srgbClr val="FFFFFF"/>
                </a:highlight>
                <a:latin typeface="Courier New"/>
                <a:ea typeface="Courier New"/>
                <a:cs typeface="Courier New"/>
                <a:sym typeface="Courier New"/>
              </a:rPr>
              <a:t> i, constraint </a:t>
            </a:r>
            <a:r>
              <a:rPr lang="en" sz="677">
                <a:solidFill>
                  <a:srgbClr val="0000FF"/>
                </a:solidFill>
                <a:highlight>
                  <a:srgbClr val="FFFFFF"/>
                </a:highlight>
                <a:latin typeface="Courier New"/>
                <a:ea typeface="Courier New"/>
                <a:cs typeface="Courier New"/>
                <a:sym typeface="Courier New"/>
              </a:rPr>
              <a:t>in</a:t>
            </a:r>
            <a:r>
              <a:rPr lang="en" sz="677">
                <a:solidFill>
                  <a:schemeClr val="dk1"/>
                </a:solidFill>
                <a:highlight>
                  <a:srgbClr val="FFFFFF"/>
                </a:highlight>
                <a:latin typeface="Courier New"/>
                <a:ea typeface="Courier New"/>
                <a:cs typeface="Courier New"/>
                <a:sym typeface="Courier New"/>
              </a:rPr>
              <a:t> </a:t>
            </a:r>
            <a:r>
              <a:rPr lang="en" sz="677">
                <a:solidFill>
                  <a:srgbClr val="6A5221"/>
                </a:solidFill>
                <a:highlight>
                  <a:srgbClr val="FFFFFF"/>
                </a:highlight>
                <a:latin typeface="Courier New"/>
                <a:ea typeface="Courier New"/>
                <a:cs typeface="Courier New"/>
                <a:sym typeface="Courier New"/>
              </a:rPr>
              <a:t>enumerate</a:t>
            </a:r>
            <a:r>
              <a:rPr lang="en" sz="677">
                <a:solidFill>
                  <a:schemeClr val="dk1"/>
                </a:solidFill>
                <a:highlight>
                  <a:srgbClr val="FFFFFF"/>
                </a:highlight>
                <a:latin typeface="Courier New"/>
                <a:ea typeface="Courier New"/>
                <a:cs typeface="Courier New"/>
                <a:sym typeface="Courier New"/>
              </a:rPr>
              <a:t>(csp2.constraints)</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passed = constraint.check(sample)</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if</a:t>
            </a:r>
            <a:r>
              <a:rPr lang="en" sz="677">
                <a:solidFill>
                  <a:schemeClr val="dk1"/>
                </a:solidFill>
                <a:highlight>
                  <a:srgbClr val="FFFFFF"/>
                </a:highlight>
                <a:latin typeface="Courier New"/>
                <a:ea typeface="Courier New"/>
                <a:cs typeface="Courier New"/>
                <a:sym typeface="Courier New"/>
              </a:rPr>
              <a:t> (</a:t>
            </a:r>
            <a:r>
              <a:rPr lang="en" sz="677">
                <a:solidFill>
                  <a:srgbClr val="0000FF"/>
                </a:solidFill>
                <a:highlight>
                  <a:srgbClr val="FFFFFF"/>
                </a:highlight>
                <a:latin typeface="Courier New"/>
                <a:ea typeface="Courier New"/>
                <a:cs typeface="Courier New"/>
                <a:sym typeface="Courier New"/>
              </a:rPr>
              <a:t>not</a:t>
            </a:r>
            <a:r>
              <a:rPr lang="en" sz="677">
                <a:solidFill>
                  <a:schemeClr val="dk1"/>
                </a:solidFill>
                <a:highlight>
                  <a:srgbClr val="FFFFFF"/>
                </a:highlight>
                <a:latin typeface="Courier New"/>
                <a:ea typeface="Courier New"/>
                <a:cs typeface="Courier New"/>
                <a:sym typeface="Courier New"/>
              </a:rPr>
              <a:t> passed):</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chemeClr val="dk1"/>
                </a:solidFill>
                <a:highlight>
                  <a:srgbClr val="FFFF00"/>
                </a:highlight>
                <a:latin typeface="Courier New"/>
                <a:ea typeface="Courier New"/>
                <a:cs typeface="Courier New"/>
                <a:sym typeface="Courier New"/>
              </a:rPr>
              <a:t>total += </a:t>
            </a:r>
            <a:r>
              <a:rPr lang="en" sz="677">
                <a:solidFill>
                  <a:srgbClr val="116644"/>
                </a:solidFill>
                <a:highlight>
                  <a:srgbClr val="FFFF00"/>
                </a:highlight>
                <a:latin typeface="Courier New"/>
                <a:ea typeface="Courier New"/>
                <a:cs typeface="Courier New"/>
                <a:sym typeface="Courier New"/>
              </a:rPr>
              <a:t>13</a:t>
            </a:r>
            <a:r>
              <a:rPr lang="en" sz="677">
                <a:solidFill>
                  <a:schemeClr val="dk1"/>
                </a:solidFill>
                <a:highlight>
                  <a:srgbClr val="FFFF00"/>
                </a:highlight>
                <a:latin typeface="Courier New"/>
                <a:ea typeface="Courier New"/>
                <a:cs typeface="Courier New"/>
                <a:sym typeface="Courier New"/>
              </a:rPr>
              <a:t>*bqm_rule2.energy(sample)</a:t>
            </a:r>
            <a:endParaRPr sz="677">
              <a:solidFill>
                <a:schemeClr val="dk1"/>
              </a:solidFill>
              <a:highlight>
                <a:srgbClr val="FFFF00"/>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for</a:t>
            </a:r>
            <a:r>
              <a:rPr lang="en" sz="677">
                <a:solidFill>
                  <a:schemeClr val="dk1"/>
                </a:solidFill>
                <a:highlight>
                  <a:srgbClr val="FFFFFF"/>
                </a:highlight>
                <a:latin typeface="Courier New"/>
                <a:ea typeface="Courier New"/>
                <a:cs typeface="Courier New"/>
                <a:sym typeface="Courier New"/>
              </a:rPr>
              <a:t> i, constraint </a:t>
            </a:r>
            <a:r>
              <a:rPr lang="en" sz="677">
                <a:solidFill>
                  <a:srgbClr val="0000FF"/>
                </a:solidFill>
                <a:highlight>
                  <a:srgbClr val="FFFFFF"/>
                </a:highlight>
                <a:latin typeface="Courier New"/>
                <a:ea typeface="Courier New"/>
                <a:cs typeface="Courier New"/>
                <a:sym typeface="Courier New"/>
              </a:rPr>
              <a:t>in</a:t>
            </a:r>
            <a:r>
              <a:rPr lang="en" sz="677">
                <a:solidFill>
                  <a:schemeClr val="dk1"/>
                </a:solidFill>
                <a:highlight>
                  <a:srgbClr val="FFFFFF"/>
                </a:highlight>
                <a:latin typeface="Courier New"/>
                <a:ea typeface="Courier New"/>
                <a:cs typeface="Courier New"/>
                <a:sym typeface="Courier New"/>
              </a:rPr>
              <a:t> </a:t>
            </a:r>
            <a:r>
              <a:rPr lang="en" sz="677">
                <a:solidFill>
                  <a:srgbClr val="6A5221"/>
                </a:solidFill>
                <a:highlight>
                  <a:srgbClr val="FFFFFF"/>
                </a:highlight>
                <a:latin typeface="Courier New"/>
                <a:ea typeface="Courier New"/>
                <a:cs typeface="Courier New"/>
                <a:sym typeface="Courier New"/>
              </a:rPr>
              <a:t>enumerate</a:t>
            </a:r>
            <a:r>
              <a:rPr lang="en" sz="677">
                <a:solidFill>
                  <a:schemeClr val="dk1"/>
                </a:solidFill>
                <a:highlight>
                  <a:srgbClr val="FFFFFF"/>
                </a:highlight>
                <a:latin typeface="Courier New"/>
                <a:ea typeface="Courier New"/>
                <a:cs typeface="Courier New"/>
                <a:sym typeface="Courier New"/>
              </a:rPr>
              <a:t>(csp3.constraints):</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passed = constraint.check(sample)</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if</a:t>
            </a:r>
            <a:r>
              <a:rPr lang="en" sz="677">
                <a:solidFill>
                  <a:schemeClr val="dk1"/>
                </a:solidFill>
                <a:highlight>
                  <a:srgbClr val="FFFFFF"/>
                </a:highlight>
                <a:latin typeface="Courier New"/>
                <a:ea typeface="Courier New"/>
                <a:cs typeface="Courier New"/>
                <a:sym typeface="Courier New"/>
              </a:rPr>
              <a:t> (</a:t>
            </a:r>
            <a:r>
              <a:rPr lang="en" sz="677">
                <a:solidFill>
                  <a:srgbClr val="0000FF"/>
                </a:solidFill>
                <a:highlight>
                  <a:srgbClr val="FFFFFF"/>
                </a:highlight>
                <a:latin typeface="Courier New"/>
                <a:ea typeface="Courier New"/>
                <a:cs typeface="Courier New"/>
                <a:sym typeface="Courier New"/>
              </a:rPr>
              <a:t>not</a:t>
            </a:r>
            <a:r>
              <a:rPr lang="en" sz="677">
                <a:solidFill>
                  <a:schemeClr val="dk1"/>
                </a:solidFill>
                <a:highlight>
                  <a:srgbClr val="FFFFFF"/>
                </a:highlight>
                <a:latin typeface="Courier New"/>
                <a:ea typeface="Courier New"/>
                <a:cs typeface="Courier New"/>
                <a:sym typeface="Courier New"/>
              </a:rPr>
              <a:t> passed):</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chemeClr val="dk1"/>
                </a:solidFill>
                <a:highlight>
                  <a:srgbClr val="FFFF00"/>
                </a:highlight>
                <a:latin typeface="Courier New"/>
                <a:ea typeface="Courier New"/>
                <a:cs typeface="Courier New"/>
                <a:sym typeface="Courier New"/>
              </a:rPr>
              <a:t>total += </a:t>
            </a:r>
            <a:r>
              <a:rPr lang="en" sz="677">
                <a:solidFill>
                  <a:srgbClr val="116644"/>
                </a:solidFill>
                <a:highlight>
                  <a:srgbClr val="FFFF00"/>
                </a:highlight>
                <a:latin typeface="Courier New"/>
                <a:ea typeface="Courier New"/>
                <a:cs typeface="Courier New"/>
                <a:sym typeface="Courier New"/>
              </a:rPr>
              <a:t>25</a:t>
            </a:r>
            <a:r>
              <a:rPr lang="en" sz="677">
                <a:solidFill>
                  <a:schemeClr val="dk1"/>
                </a:solidFill>
                <a:highlight>
                  <a:srgbClr val="FFFF00"/>
                </a:highlight>
                <a:latin typeface="Courier New"/>
                <a:ea typeface="Courier New"/>
                <a:cs typeface="Courier New"/>
                <a:sym typeface="Courier New"/>
              </a:rPr>
              <a:t>*bqm_rule3.energy(sample)</a:t>
            </a:r>
            <a:endParaRPr sz="677">
              <a:solidFill>
                <a:schemeClr val="dk1"/>
              </a:solidFill>
              <a:highlight>
                <a:srgbClr val="FFFF00"/>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t/>
            </a:r>
            <a:endParaRPr sz="677">
              <a:solidFill>
                <a:schemeClr val="dk1"/>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all_total_E.append(total/total_shots)</a:t>
            </a:r>
            <a:endParaRPr sz="677">
              <a:solidFill>
                <a:srgbClr val="008000"/>
              </a:solidFill>
              <a:highlight>
                <a:srgbClr val="FFFFFF"/>
              </a:highlight>
              <a:latin typeface="Courier New"/>
              <a:ea typeface="Courier New"/>
              <a:cs typeface="Courier New"/>
              <a:sym typeface="Courier New"/>
            </a:endParaRPr>
          </a:p>
          <a:p>
            <a:pPr indent="0" lvl="0" marL="0" rtl="0" algn="l">
              <a:lnSpc>
                <a:spcPct val="115714"/>
              </a:lnSpc>
              <a:spcBef>
                <a:spcPts val="0"/>
              </a:spcBef>
              <a:spcAft>
                <a:spcPts val="0"/>
              </a:spcAft>
              <a:buClr>
                <a:schemeClr val="dk1"/>
              </a:buClr>
              <a:buSzPts val="605"/>
              <a:buFont typeface="Arial"/>
              <a:buNone/>
            </a:pPr>
            <a:r>
              <a:rPr lang="en" sz="677">
                <a:solidFill>
                  <a:schemeClr val="dk1"/>
                </a:solidFill>
                <a:highlight>
                  <a:srgbClr val="FFFFFF"/>
                </a:highlight>
                <a:latin typeface="Courier New"/>
                <a:ea typeface="Courier New"/>
                <a:cs typeface="Courier New"/>
                <a:sym typeface="Courier New"/>
              </a:rPr>
              <a:t>      </a:t>
            </a:r>
            <a:r>
              <a:rPr lang="en" sz="677">
                <a:solidFill>
                  <a:srgbClr val="9723B4"/>
                </a:solidFill>
                <a:highlight>
                  <a:srgbClr val="FFFFFF"/>
                </a:highlight>
                <a:latin typeface="Courier New"/>
                <a:ea typeface="Courier New"/>
                <a:cs typeface="Courier New"/>
                <a:sym typeface="Courier New"/>
              </a:rPr>
              <a:t>return</a:t>
            </a:r>
            <a:r>
              <a:rPr lang="en" sz="677">
                <a:solidFill>
                  <a:schemeClr val="dk1"/>
                </a:solidFill>
                <a:highlight>
                  <a:srgbClr val="FFFFFF"/>
                </a:highlight>
                <a:latin typeface="Courier New"/>
                <a:ea typeface="Courier New"/>
                <a:cs typeface="Courier New"/>
                <a:sym typeface="Courier New"/>
              </a:rPr>
              <a:t> total/total_shots</a:t>
            </a:r>
            <a:endParaRPr sz="677">
              <a:solidFill>
                <a:schemeClr val="dk1"/>
              </a:solidFill>
              <a:highlight>
                <a:srgbClr val="FFFFFF"/>
              </a:highlight>
              <a:latin typeface="Courier New"/>
              <a:ea typeface="Courier New"/>
              <a:cs typeface="Courier New"/>
              <a:sym typeface="Courier New"/>
            </a:endParaRPr>
          </a:p>
          <a:p>
            <a:pPr indent="0" lvl="0" marL="0" rtl="0" algn="l">
              <a:lnSpc>
                <a:spcPct val="95000"/>
              </a:lnSpc>
              <a:spcBef>
                <a:spcPts val="0"/>
              </a:spcBef>
              <a:spcAft>
                <a:spcPts val="1200"/>
              </a:spcAft>
              <a:buSzPts val="605"/>
              <a:buNone/>
            </a:pPr>
            <a:r>
              <a:t/>
            </a:r>
            <a:endParaRPr sz="1090"/>
          </a:p>
        </p:txBody>
      </p:sp>
      <p:sp>
        <p:nvSpPr>
          <p:cNvPr id="186" name="Google Shape;186;p27"/>
          <p:cNvSpPr txBox="1"/>
          <p:nvPr/>
        </p:nvSpPr>
        <p:spPr>
          <a:xfrm>
            <a:off x="210800" y="1017725"/>
            <a:ext cx="5185800" cy="2315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50">
                <a:solidFill>
                  <a:srgbClr val="0000FF"/>
                </a:solidFill>
                <a:highlight>
                  <a:srgbClr val="FFFFFF"/>
                </a:highlight>
                <a:latin typeface="Courier New"/>
                <a:ea typeface="Courier New"/>
                <a:cs typeface="Courier New"/>
                <a:sym typeface="Courier New"/>
              </a:rPr>
              <a:t>def</a:t>
            </a:r>
            <a:r>
              <a:rPr lang="en" sz="950">
                <a:solidFill>
                  <a:schemeClr val="dk1"/>
                </a:solidFill>
                <a:highlight>
                  <a:srgbClr val="FFFFFF"/>
                </a:highlight>
                <a:latin typeface="Courier New"/>
                <a:ea typeface="Courier New"/>
                <a:cs typeface="Courier New"/>
                <a:sym typeface="Courier New"/>
              </a:rPr>
              <a:t> </a:t>
            </a:r>
            <a:r>
              <a:rPr lang="en" sz="950">
                <a:solidFill>
                  <a:srgbClr val="6A5221"/>
                </a:solidFill>
                <a:highlight>
                  <a:srgbClr val="FFFFFF"/>
                </a:highlight>
                <a:latin typeface="Courier New"/>
                <a:ea typeface="Courier New"/>
                <a:cs typeface="Courier New"/>
                <a:sym typeface="Courier New"/>
              </a:rPr>
              <a:t>compute_expectation</a:t>
            </a:r>
            <a:r>
              <a:rPr lang="en" sz="950">
                <a:solidFill>
                  <a:schemeClr val="dk1"/>
                </a:solidFill>
                <a:highlight>
                  <a:srgbClr val="FFFFFF"/>
                </a:highlight>
                <a:latin typeface="Courier New"/>
                <a:ea typeface="Courier New"/>
                <a:cs typeface="Courier New"/>
                <a:sym typeface="Courier New"/>
              </a:rPr>
              <a:t>(</a:t>
            </a:r>
            <a:r>
              <a:rPr lang="en" sz="950">
                <a:solidFill>
                  <a:srgbClr val="001080"/>
                </a:solidFill>
                <a:highlight>
                  <a:srgbClr val="FFFFFF"/>
                </a:highlight>
                <a:latin typeface="Courier New"/>
                <a:ea typeface="Courier New"/>
                <a:cs typeface="Courier New"/>
                <a:sym typeface="Courier New"/>
              </a:rPr>
              <a:t>counts</a:t>
            </a:r>
            <a:r>
              <a:rPr lang="en" sz="950">
                <a:solidFill>
                  <a:schemeClr val="dk1"/>
                </a:solidFill>
                <a:highlight>
                  <a:srgbClr val="FFFFFF"/>
                </a:highlight>
                <a:latin typeface="Courier New"/>
                <a:ea typeface="Courier New"/>
                <a:cs typeface="Courier New"/>
                <a:sym typeface="Courier New"/>
              </a:rPr>
              <a:t>):</a:t>
            </a:r>
            <a:endParaRPr sz="9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total = </a:t>
            </a:r>
            <a:r>
              <a:rPr lang="en" sz="950">
                <a:solidFill>
                  <a:srgbClr val="116644"/>
                </a:solidFill>
                <a:highlight>
                  <a:srgbClr val="FFFFFF"/>
                </a:highlight>
                <a:latin typeface="Courier New"/>
                <a:ea typeface="Courier New"/>
                <a:cs typeface="Courier New"/>
                <a:sym typeface="Courier New"/>
              </a:rPr>
              <a:t>0</a:t>
            </a:r>
            <a:endParaRPr sz="9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a:t>
            </a:r>
            <a:r>
              <a:rPr lang="en" sz="950">
                <a:solidFill>
                  <a:srgbClr val="9723B4"/>
                </a:solidFill>
                <a:highlight>
                  <a:srgbClr val="FFFFFF"/>
                </a:highlight>
                <a:latin typeface="Courier New"/>
                <a:ea typeface="Courier New"/>
                <a:cs typeface="Courier New"/>
                <a:sym typeface="Courier New"/>
              </a:rPr>
              <a:t>for</a:t>
            </a:r>
            <a:r>
              <a:rPr lang="en" sz="950">
                <a:solidFill>
                  <a:schemeClr val="dk1"/>
                </a:solidFill>
                <a:highlight>
                  <a:srgbClr val="FFFFFF"/>
                </a:highlight>
                <a:latin typeface="Courier New"/>
                <a:ea typeface="Courier New"/>
                <a:cs typeface="Courier New"/>
                <a:sym typeface="Courier New"/>
              </a:rPr>
              <a:t> bitstring, count </a:t>
            </a:r>
            <a:r>
              <a:rPr lang="en" sz="950">
                <a:solidFill>
                  <a:srgbClr val="0000FF"/>
                </a:solidFill>
                <a:highlight>
                  <a:srgbClr val="FFFFFF"/>
                </a:highlight>
                <a:latin typeface="Courier New"/>
                <a:ea typeface="Courier New"/>
                <a:cs typeface="Courier New"/>
                <a:sym typeface="Courier New"/>
              </a:rPr>
              <a:t>in</a:t>
            </a:r>
            <a:r>
              <a:rPr lang="en" sz="950">
                <a:solidFill>
                  <a:schemeClr val="dk1"/>
                </a:solidFill>
                <a:highlight>
                  <a:srgbClr val="FFFFFF"/>
                </a:highlight>
                <a:latin typeface="Courier New"/>
                <a:ea typeface="Courier New"/>
                <a:cs typeface="Courier New"/>
                <a:sym typeface="Courier New"/>
              </a:rPr>
              <a:t> counts.items():</a:t>
            </a:r>
            <a:endParaRPr sz="9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obj = </a:t>
            </a:r>
            <a:r>
              <a:rPr lang="en" sz="950">
                <a:solidFill>
                  <a:srgbClr val="116644"/>
                </a:solidFill>
                <a:highlight>
                  <a:srgbClr val="FFFFFF"/>
                </a:highlight>
                <a:latin typeface="Courier New"/>
                <a:ea typeface="Courier New"/>
                <a:cs typeface="Courier New"/>
                <a:sym typeface="Courier New"/>
              </a:rPr>
              <a:t>0</a:t>
            </a:r>
            <a:endParaRPr sz="950">
              <a:solidFill>
                <a:srgbClr val="116644"/>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a:t>
            </a:r>
            <a:endParaRPr sz="9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sample_values_as_ints = [</a:t>
            </a:r>
            <a:r>
              <a:rPr lang="en" sz="950">
                <a:solidFill>
                  <a:srgbClr val="257693"/>
                </a:solidFill>
                <a:highlight>
                  <a:srgbClr val="FFFFFF"/>
                </a:highlight>
                <a:latin typeface="Courier New"/>
                <a:ea typeface="Courier New"/>
                <a:cs typeface="Courier New"/>
                <a:sym typeface="Courier New"/>
              </a:rPr>
              <a:t>int</a:t>
            </a:r>
            <a:r>
              <a:rPr lang="en" sz="950">
                <a:solidFill>
                  <a:schemeClr val="dk1"/>
                </a:solidFill>
                <a:highlight>
                  <a:srgbClr val="FFFFFF"/>
                </a:highlight>
                <a:latin typeface="Courier New"/>
                <a:ea typeface="Courier New"/>
                <a:cs typeface="Courier New"/>
                <a:sym typeface="Courier New"/>
              </a:rPr>
              <a:t>(bit) </a:t>
            </a:r>
            <a:r>
              <a:rPr lang="en" sz="950">
                <a:solidFill>
                  <a:srgbClr val="9723B4"/>
                </a:solidFill>
                <a:highlight>
                  <a:srgbClr val="FFFFFF"/>
                </a:highlight>
                <a:latin typeface="Courier New"/>
                <a:ea typeface="Courier New"/>
                <a:cs typeface="Courier New"/>
                <a:sym typeface="Courier New"/>
              </a:rPr>
              <a:t>for</a:t>
            </a:r>
            <a:r>
              <a:rPr lang="en" sz="950">
                <a:solidFill>
                  <a:schemeClr val="dk1"/>
                </a:solidFill>
                <a:highlight>
                  <a:srgbClr val="FFFFFF"/>
                </a:highlight>
                <a:latin typeface="Courier New"/>
                <a:ea typeface="Courier New"/>
                <a:cs typeface="Courier New"/>
                <a:sym typeface="Courier New"/>
              </a:rPr>
              <a:t> bit </a:t>
            </a:r>
            <a:r>
              <a:rPr lang="en" sz="950">
                <a:solidFill>
                  <a:srgbClr val="0000FF"/>
                </a:solidFill>
                <a:highlight>
                  <a:srgbClr val="FFFFFF"/>
                </a:highlight>
                <a:latin typeface="Courier New"/>
                <a:ea typeface="Courier New"/>
                <a:cs typeface="Courier New"/>
                <a:sym typeface="Courier New"/>
              </a:rPr>
              <a:t>in</a:t>
            </a:r>
            <a:r>
              <a:rPr lang="en" sz="950">
                <a:solidFill>
                  <a:schemeClr val="dk1"/>
                </a:solidFill>
                <a:highlight>
                  <a:srgbClr val="FFFFFF"/>
                </a:highlight>
                <a:latin typeface="Courier New"/>
                <a:ea typeface="Courier New"/>
                <a:cs typeface="Courier New"/>
                <a:sym typeface="Courier New"/>
              </a:rPr>
              <a:t> bitstring]</a:t>
            </a:r>
            <a:endParaRPr sz="9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sample = </a:t>
            </a:r>
            <a:r>
              <a:rPr lang="en" sz="950">
                <a:solidFill>
                  <a:srgbClr val="257693"/>
                </a:solidFill>
                <a:highlight>
                  <a:srgbClr val="FFFFFF"/>
                </a:highlight>
                <a:latin typeface="Courier New"/>
                <a:ea typeface="Courier New"/>
                <a:cs typeface="Courier New"/>
                <a:sym typeface="Courier New"/>
              </a:rPr>
              <a:t>dict</a:t>
            </a:r>
            <a:r>
              <a:rPr lang="en" sz="950">
                <a:solidFill>
                  <a:schemeClr val="dk1"/>
                </a:solidFill>
                <a:highlight>
                  <a:srgbClr val="FFFFFF"/>
                </a:highlight>
                <a:latin typeface="Courier New"/>
                <a:ea typeface="Courier New"/>
                <a:cs typeface="Courier New"/>
                <a:sym typeface="Courier New"/>
              </a:rPr>
              <a:t>(</a:t>
            </a:r>
            <a:r>
              <a:rPr lang="en" sz="950">
                <a:solidFill>
                  <a:srgbClr val="6A5221"/>
                </a:solidFill>
                <a:highlight>
                  <a:srgbClr val="FFFFFF"/>
                </a:highlight>
                <a:latin typeface="Courier New"/>
                <a:ea typeface="Courier New"/>
                <a:cs typeface="Courier New"/>
                <a:sym typeface="Courier New"/>
              </a:rPr>
              <a:t>zip</a:t>
            </a:r>
            <a:r>
              <a:rPr lang="en" sz="950">
                <a:solidFill>
                  <a:schemeClr val="dk1"/>
                </a:solidFill>
                <a:highlight>
                  <a:srgbClr val="FFFFFF"/>
                </a:highlight>
                <a:latin typeface="Courier New"/>
                <a:ea typeface="Courier New"/>
                <a:cs typeface="Courier New"/>
                <a:sym typeface="Courier New"/>
              </a:rPr>
              <a:t>(bqm.variables, sample_values_as_ints))</a:t>
            </a:r>
            <a:endParaRPr sz="9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a:t>
            </a:r>
            <a:r>
              <a:rPr lang="en" sz="950">
                <a:solidFill>
                  <a:schemeClr val="dk1"/>
                </a:solidFill>
                <a:highlight>
                  <a:srgbClr val="FF0000"/>
                </a:highlight>
                <a:latin typeface="Courier New"/>
                <a:ea typeface="Courier New"/>
                <a:cs typeface="Courier New"/>
                <a:sym typeface="Courier New"/>
              </a:rPr>
              <a:t>total += bqm.energy(sample)</a:t>
            </a:r>
            <a:endParaRPr sz="950">
              <a:solidFill>
                <a:schemeClr val="dk1"/>
              </a:solidFill>
              <a:highlight>
                <a:srgbClr val="FF0000"/>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9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all_total_E.append(total)</a:t>
            </a:r>
            <a:endParaRPr sz="9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950">
                <a:solidFill>
                  <a:schemeClr val="dk1"/>
                </a:solidFill>
                <a:highlight>
                  <a:srgbClr val="FFFFFF"/>
                </a:highlight>
                <a:latin typeface="Courier New"/>
                <a:ea typeface="Courier New"/>
                <a:cs typeface="Courier New"/>
                <a:sym typeface="Courier New"/>
              </a:rPr>
              <a:t>      </a:t>
            </a:r>
            <a:r>
              <a:rPr lang="en" sz="950">
                <a:solidFill>
                  <a:srgbClr val="9723B4"/>
                </a:solidFill>
                <a:highlight>
                  <a:srgbClr val="FFFFFF"/>
                </a:highlight>
                <a:latin typeface="Courier New"/>
                <a:ea typeface="Courier New"/>
                <a:cs typeface="Courier New"/>
                <a:sym typeface="Courier New"/>
              </a:rPr>
              <a:t>return</a:t>
            </a:r>
            <a:r>
              <a:rPr lang="en" sz="950">
                <a:solidFill>
                  <a:schemeClr val="dk1"/>
                </a:solidFill>
                <a:highlight>
                  <a:srgbClr val="FFFFFF"/>
                </a:highlight>
                <a:latin typeface="Courier New"/>
                <a:ea typeface="Courier New"/>
                <a:cs typeface="Courier New"/>
                <a:sym typeface="Courier New"/>
              </a:rPr>
              <a:t> total</a:t>
            </a:r>
            <a:endParaRPr sz="950">
              <a:solidFill>
                <a:schemeClr val="dk1"/>
              </a:solidFill>
              <a:highlight>
                <a:srgbClr val="FFFFFF"/>
              </a:highlight>
              <a:latin typeface="Courier New"/>
              <a:ea typeface="Courier New"/>
              <a:cs typeface="Courier New"/>
              <a:sym typeface="Courier New"/>
            </a:endParaRPr>
          </a:p>
        </p:txBody>
      </p:sp>
      <p:cxnSp>
        <p:nvCxnSpPr>
          <p:cNvPr id="187" name="Google Shape;187;p27"/>
          <p:cNvCxnSpPr/>
          <p:nvPr/>
        </p:nvCxnSpPr>
        <p:spPr>
          <a:xfrm>
            <a:off x="2916050" y="2571750"/>
            <a:ext cx="3183000" cy="878400"/>
          </a:xfrm>
          <a:prstGeom prst="straightConnector1">
            <a:avLst/>
          </a:prstGeom>
          <a:noFill/>
          <a:ln cap="flat" cmpd="sng" w="38100">
            <a:solidFill>
              <a:schemeClr val="dk2"/>
            </a:solidFill>
            <a:prstDash val="solid"/>
            <a:round/>
            <a:headEnd len="med" w="med" type="none"/>
            <a:tailEnd len="med" w="med" type="triangle"/>
          </a:ln>
        </p:spPr>
      </p:cxnSp>
      <p:sp>
        <p:nvSpPr>
          <p:cNvPr id="188" name="Google Shape;188;p27"/>
          <p:cNvSpPr txBox="1"/>
          <p:nvPr/>
        </p:nvSpPr>
        <p:spPr>
          <a:xfrm>
            <a:off x="1292900" y="3344675"/>
            <a:ext cx="10188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Before</a:t>
            </a:r>
            <a:endParaRPr sz="1800">
              <a:solidFill>
                <a:srgbClr val="FF0000"/>
              </a:solidFill>
            </a:endParaRPr>
          </a:p>
        </p:txBody>
      </p:sp>
      <p:sp>
        <p:nvSpPr>
          <p:cNvPr id="189" name="Google Shape;189;p27"/>
          <p:cNvSpPr txBox="1"/>
          <p:nvPr/>
        </p:nvSpPr>
        <p:spPr>
          <a:xfrm>
            <a:off x="5815875" y="4487825"/>
            <a:ext cx="1018800" cy="421500"/>
          </a:xfrm>
          <a:prstGeom prst="rect">
            <a:avLst/>
          </a:prstGeom>
          <a:solidFill>
            <a:srgbClr val="B7B7B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00"/>
                </a:solidFill>
              </a:rPr>
              <a:t>After</a:t>
            </a:r>
            <a:endParaRPr sz="1800">
              <a:solidFill>
                <a:srgbClr val="FFFF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 - Correct answers were little more probable now </a:t>
            </a:r>
            <a:endParaRPr/>
          </a:p>
        </p:txBody>
      </p:sp>
      <p:sp>
        <p:nvSpPr>
          <p:cNvPr id="195" name="Google Shape;195;p28"/>
          <p:cNvSpPr txBox="1"/>
          <p:nvPr>
            <p:ph idx="1" type="body"/>
          </p:nvPr>
        </p:nvSpPr>
        <p:spPr>
          <a:xfrm>
            <a:off x="199300" y="4279225"/>
            <a:ext cx="8520600" cy="64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Both 10,000 shots</a:t>
            </a:r>
            <a:endParaRPr/>
          </a:p>
        </p:txBody>
      </p:sp>
      <p:pic>
        <p:nvPicPr>
          <p:cNvPr id="196" name="Google Shape;196;p28"/>
          <p:cNvPicPr preferRelativeResize="0"/>
          <p:nvPr/>
        </p:nvPicPr>
        <p:blipFill>
          <a:blip r:embed="rId3">
            <a:alphaModFix/>
          </a:blip>
          <a:stretch>
            <a:fillRect/>
          </a:stretch>
        </p:blipFill>
        <p:spPr>
          <a:xfrm>
            <a:off x="103225" y="1280125"/>
            <a:ext cx="8160750" cy="1657000"/>
          </a:xfrm>
          <a:prstGeom prst="rect">
            <a:avLst/>
          </a:prstGeom>
          <a:noFill/>
          <a:ln>
            <a:noFill/>
          </a:ln>
        </p:spPr>
      </p:pic>
      <p:pic>
        <p:nvPicPr>
          <p:cNvPr id="197" name="Google Shape;197;p28"/>
          <p:cNvPicPr preferRelativeResize="0"/>
          <p:nvPr/>
        </p:nvPicPr>
        <p:blipFill>
          <a:blip r:embed="rId4">
            <a:alphaModFix/>
          </a:blip>
          <a:stretch>
            <a:fillRect/>
          </a:stretch>
        </p:blipFill>
        <p:spPr>
          <a:xfrm>
            <a:off x="168625" y="2981122"/>
            <a:ext cx="9143999" cy="1216105"/>
          </a:xfrm>
          <a:prstGeom prst="rect">
            <a:avLst/>
          </a:prstGeom>
          <a:noFill/>
          <a:ln>
            <a:noFill/>
          </a:ln>
        </p:spPr>
      </p:pic>
      <p:sp>
        <p:nvSpPr>
          <p:cNvPr id="198" name="Google Shape;198;p28"/>
          <p:cNvSpPr txBox="1"/>
          <p:nvPr/>
        </p:nvSpPr>
        <p:spPr>
          <a:xfrm>
            <a:off x="5335625" y="1201550"/>
            <a:ext cx="23328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Native COBYLA</a:t>
            </a:r>
            <a:endParaRPr sz="1800">
              <a:solidFill>
                <a:srgbClr val="FF0000"/>
              </a:solidFill>
            </a:endParaRPr>
          </a:p>
        </p:txBody>
      </p:sp>
      <p:sp>
        <p:nvSpPr>
          <p:cNvPr id="199" name="Google Shape;199;p28"/>
          <p:cNvSpPr txBox="1"/>
          <p:nvPr/>
        </p:nvSpPr>
        <p:spPr>
          <a:xfrm>
            <a:off x="4902425" y="2981125"/>
            <a:ext cx="3199200" cy="4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8000"/>
                </a:solidFill>
              </a:rPr>
              <a:t>COBYLA + Nelder-Mead</a:t>
            </a:r>
            <a:endParaRPr sz="1800">
              <a:solidFill>
                <a:srgbClr val="008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276575" y="332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t>
            </a:r>
            <a:r>
              <a:rPr lang="en"/>
              <a:t>Conclusions</a:t>
            </a:r>
            <a:endParaRPr/>
          </a:p>
        </p:txBody>
      </p:sp>
      <p:sp>
        <p:nvSpPr>
          <p:cNvPr id="205" name="Google Shape;20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“Quantum Advantage” with QAOA can be effectively utilised only if the classical minimization approach is chosen properly based on the problem.</a:t>
            </a:r>
            <a:endParaRPr/>
          </a:p>
          <a:p>
            <a:pPr indent="-342900" lvl="0" marL="457200" rtl="0" algn="l">
              <a:spcBef>
                <a:spcPts val="0"/>
              </a:spcBef>
              <a:spcAft>
                <a:spcPts val="0"/>
              </a:spcAft>
              <a:buSzPts val="1800"/>
              <a:buChar char="●"/>
            </a:pPr>
            <a:r>
              <a:rPr lang="en"/>
              <a:t>T</a:t>
            </a:r>
            <a:r>
              <a:rPr lang="en"/>
              <a:t>o limit the search space even more</a:t>
            </a:r>
            <a:r>
              <a:rPr lang="en"/>
              <a:t>Some sources suggest that Mixer architecture can be tailored to the problem. (This is probably a good starting point to continue our work)</a:t>
            </a:r>
            <a:endParaRPr/>
          </a:p>
          <a:p>
            <a:pPr indent="-342900" lvl="0" marL="457200" rtl="0" algn="l">
              <a:spcBef>
                <a:spcPts val="0"/>
              </a:spcBef>
              <a:spcAft>
                <a:spcPts val="0"/>
              </a:spcAft>
              <a:buSzPts val="1800"/>
              <a:buChar char="●"/>
            </a:pPr>
            <a:r>
              <a:rPr lang="en"/>
              <a:t>Weights and Penalties need to be tailored to the problem as well to lead the system in the correct directio</a:t>
            </a:r>
            <a:r>
              <a:rPr lang="en"/>
              <a:t>n.</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11" name="Google Shape;21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u="sng">
                <a:solidFill>
                  <a:schemeClr val="hlink"/>
                </a:solidFill>
                <a:hlinkClick r:id="rId3"/>
              </a:rPr>
              <a:t>https://www.math.ksu.edu/outreach/skday/2023/slides/FourCubesSlides.pdf</a:t>
            </a:r>
            <a:endParaRPr sz="1400"/>
          </a:p>
          <a:p>
            <a:pPr indent="-317500" lvl="0" marL="457200" rtl="0" algn="l">
              <a:spcBef>
                <a:spcPts val="0"/>
              </a:spcBef>
              <a:spcAft>
                <a:spcPts val="0"/>
              </a:spcAft>
              <a:buSzPts val="1400"/>
              <a:buChar char="●"/>
            </a:pPr>
            <a:r>
              <a:rPr lang="en" sz="1400" u="sng">
                <a:solidFill>
                  <a:schemeClr val="hlink"/>
                </a:solidFill>
                <a:hlinkClick r:id="rId4"/>
              </a:rPr>
              <a:t>https://secquoia.github.io/QUBOBook/QUBO%20and%20Ising%20Models.html</a:t>
            </a:r>
            <a:endParaRPr sz="1400"/>
          </a:p>
          <a:p>
            <a:pPr indent="0" lvl="0" marL="457200" rtl="0" algn="l">
              <a:spcBef>
                <a:spcPts val="1200"/>
              </a:spcBef>
              <a:spcAft>
                <a:spcPts val="1200"/>
              </a:spcAft>
              <a:buNone/>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262500" y="2461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BACKUP SLIDES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Solving Using Universal Quantum Computer</a:t>
            </a:r>
            <a:endParaRPr/>
          </a:p>
        </p:txBody>
      </p:sp>
      <p:pic>
        <p:nvPicPr>
          <p:cNvPr id="222" name="Google Shape;222;p32"/>
          <p:cNvPicPr preferRelativeResize="0"/>
          <p:nvPr/>
        </p:nvPicPr>
        <p:blipFill>
          <a:blip r:embed="rId3">
            <a:alphaModFix/>
          </a:blip>
          <a:stretch>
            <a:fillRect/>
          </a:stretch>
        </p:blipFill>
        <p:spPr>
          <a:xfrm>
            <a:off x="413175" y="1208675"/>
            <a:ext cx="4278025" cy="3215699"/>
          </a:xfrm>
          <a:prstGeom prst="rect">
            <a:avLst/>
          </a:prstGeom>
          <a:noFill/>
          <a:ln>
            <a:noFill/>
          </a:ln>
        </p:spPr>
      </p:pic>
      <p:pic>
        <p:nvPicPr>
          <p:cNvPr id="223" name="Google Shape;223;p32"/>
          <p:cNvPicPr preferRelativeResize="0"/>
          <p:nvPr/>
        </p:nvPicPr>
        <p:blipFill>
          <a:blip r:embed="rId4">
            <a:alphaModFix/>
          </a:blip>
          <a:stretch>
            <a:fillRect/>
          </a:stretch>
        </p:blipFill>
        <p:spPr>
          <a:xfrm>
            <a:off x="4843600" y="1170125"/>
            <a:ext cx="4148000" cy="319306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